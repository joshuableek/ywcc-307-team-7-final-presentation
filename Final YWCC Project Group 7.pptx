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Roboto Slab"/>
      <p:regular r:id="rId16"/>
      <p:bold r:id="rId17"/>
    </p:embeddedFont>
    <p:embeddedFont>
      <p:font typeface="Robot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italic.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Roboto-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obotoSlab-bold.fntdata"/><Relationship Id="rId16" Type="http://schemas.openxmlformats.org/officeDocument/2006/relationships/font" Target="fonts/RobotoSlab-regular.fntdata"/><Relationship Id="rId5" Type="http://schemas.openxmlformats.org/officeDocument/2006/relationships/notesMaster" Target="notesMasters/notesMaster1.xml"/><Relationship Id="rId19" Type="http://schemas.openxmlformats.org/officeDocument/2006/relationships/font" Target="fonts/Roboto-bold.fntdata"/><Relationship Id="rId6" Type="http://schemas.openxmlformats.org/officeDocument/2006/relationships/slide" Target="slides/slide1.xml"/><Relationship Id="rId18" Type="http://schemas.openxmlformats.org/officeDocument/2006/relationships/font" Target="fonts/Roboto-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oracle.com/cd/B19306_01/server.102/b14220/intro.htm" TargetMode="External"/><Relationship Id="rId3" Type="http://schemas.openxmlformats.org/officeDocument/2006/relationships/hyperlink" Target="https://www.cherryroad.com/2021/10/22/oracle-database-cloud/" TargetMode="External"/><Relationship Id="rId4" Type="http://schemas.openxmlformats.org/officeDocument/2006/relationships/hyperlink" Target="https://www.javatpoint.com/db2-features#:~:text=DB2%20Server%20Features&amp;text=platform%20%2D%20linux%2C%20unix%2C%20and,xml%20backup%20compression%20homogeneous%20federations" TargetMode="External"/><Relationship Id="rId5" Type="http://schemas.openxmlformats.org/officeDocument/2006/relationships/hyperlink" Target="https://www.ibm.com/be-en/products/db2-database" TargetMode="External"/><Relationship Id="rId6" Type="http://schemas.openxmlformats.org/officeDocument/2006/relationships/hyperlink" Target="https://www.dnsstuff.com/db2-vs-oracle" TargetMode="External"/><Relationship Id="rId7" Type="http://schemas.openxmlformats.org/officeDocument/2006/relationships/hyperlink" Target="https://www.integrate.io/blog/oracle-vs-mysql/#key" TargetMode="Externa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Hello, my name is Joshua Bleeker and our presentation is about the Health of North Carolinians Alternative Database Products.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126122950e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126122950e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sz="1300"/>
              <a:t>The goal of the project was for my team and I to work to improve the health of North Carolinians through an integrated and well-coordinated system of care that addresses both medical and nonmedical drivers of health.</a:t>
            </a:r>
            <a:endParaRPr sz="1300"/>
          </a:p>
          <a:p>
            <a:pPr indent="-311150" lvl="0" marL="457200" rtl="0" algn="l">
              <a:spcBef>
                <a:spcPts val="0"/>
              </a:spcBef>
              <a:spcAft>
                <a:spcPts val="0"/>
              </a:spcAft>
              <a:buSzPts val="1300"/>
              <a:buChar char="●"/>
            </a:pPr>
            <a:r>
              <a:rPr lang="en" sz="1300"/>
              <a:t>The department will integrate care plans with a benefits package that spans both physical and behavioral health services, as well as long-term services and supports (LTSS) and pharmacy benefits.</a:t>
            </a:r>
            <a:endParaRPr sz="1300"/>
          </a:p>
          <a:p>
            <a:pPr indent="-311150" lvl="0" marL="457200" rtl="0" algn="l">
              <a:spcBef>
                <a:spcPts val="0"/>
              </a:spcBef>
              <a:spcAft>
                <a:spcPts val="0"/>
              </a:spcAft>
              <a:buSzPts val="1300"/>
              <a:buChar char="●"/>
            </a:pPr>
            <a:r>
              <a:rPr lang="en" sz="1300"/>
              <a:t>My team and I are tasked with with comparing and contrasting popular database products to find which system will better serve these new data requirements.</a:t>
            </a:r>
            <a:endParaRPr sz="1300"/>
          </a:p>
          <a:p>
            <a:pPr indent="-311150" lvl="0" marL="457200" rtl="0" algn="l">
              <a:spcBef>
                <a:spcPts val="0"/>
              </a:spcBef>
              <a:spcAft>
                <a:spcPts val="0"/>
              </a:spcAft>
              <a:buSzPts val="1300"/>
              <a:buChar char="●"/>
            </a:pPr>
            <a:r>
              <a:rPr lang="en" sz="1300"/>
              <a:t>The three database products that will be compared are: </a:t>
            </a:r>
            <a:r>
              <a:rPr b="1" lang="en" sz="1300"/>
              <a:t>Mysql</a:t>
            </a:r>
            <a:r>
              <a:rPr lang="en" sz="1300"/>
              <a:t>, </a:t>
            </a:r>
            <a:r>
              <a:rPr b="1" lang="en" sz="1300"/>
              <a:t>Oracle Database</a:t>
            </a:r>
            <a:r>
              <a:rPr lang="en" sz="1300"/>
              <a:t>, and </a:t>
            </a:r>
            <a:r>
              <a:rPr b="1" lang="en" sz="1300"/>
              <a:t>IBM</a:t>
            </a:r>
            <a:r>
              <a:rPr lang="en" sz="1300"/>
              <a:t>.</a:t>
            </a:r>
            <a:endParaRPr sz="1300"/>
          </a:p>
          <a:p>
            <a:pPr indent="0" lvl="0" marL="0" rtl="0" algn="l">
              <a:spcBef>
                <a:spcPts val="0"/>
              </a:spcBef>
              <a:spcAft>
                <a:spcPts val="0"/>
              </a:spcAft>
              <a:buNone/>
            </a:pPr>
            <a:r>
              <a:t/>
            </a:r>
            <a:endParaRPr sz="13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126122950e5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126122950e5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chemeClr val="dk1"/>
              </a:buClr>
              <a:buSzPts val="1400"/>
              <a:buFont typeface="Roboto"/>
              <a:buChar char="●"/>
            </a:pPr>
            <a:r>
              <a:rPr lang="en" sz="1400">
                <a:solidFill>
                  <a:schemeClr val="dk1"/>
                </a:solidFill>
                <a:latin typeface="Roboto"/>
                <a:ea typeface="Roboto"/>
                <a:cs typeface="Roboto"/>
                <a:sym typeface="Roboto"/>
              </a:rPr>
              <a:t>Mysql:</a:t>
            </a:r>
            <a:endParaRPr sz="1400">
              <a:solidFill>
                <a:schemeClr val="dk1"/>
              </a:solidFill>
              <a:latin typeface="Roboto"/>
              <a:ea typeface="Roboto"/>
              <a:cs typeface="Roboto"/>
              <a:sym typeface="Roboto"/>
            </a:endParaRPr>
          </a:p>
          <a:p>
            <a:pPr indent="-317500" lvl="1" marL="914400" rtl="0" algn="l">
              <a:lnSpc>
                <a:spcPct val="115000"/>
              </a:lnSpc>
              <a:spcBef>
                <a:spcPts val="0"/>
              </a:spcBef>
              <a:spcAft>
                <a:spcPts val="0"/>
              </a:spcAft>
              <a:buClr>
                <a:schemeClr val="dk1"/>
              </a:buClr>
              <a:buSzPts val="1400"/>
              <a:buFont typeface="Roboto"/>
              <a:buChar char="○"/>
            </a:pPr>
            <a:r>
              <a:rPr lang="en" sz="1400">
                <a:solidFill>
                  <a:schemeClr val="dk1"/>
                </a:solidFill>
                <a:latin typeface="Roboto"/>
                <a:ea typeface="Roboto"/>
                <a:cs typeface="Roboto"/>
                <a:sym typeface="Roboto"/>
              </a:rPr>
              <a:t>MySQL is an open source relational database management system (RDBMS) with a client-server model.</a:t>
            </a:r>
            <a:endParaRPr sz="1400">
              <a:solidFill>
                <a:schemeClr val="dk1"/>
              </a:solidFill>
              <a:latin typeface="Roboto"/>
              <a:ea typeface="Roboto"/>
              <a:cs typeface="Roboto"/>
              <a:sym typeface="Roboto"/>
            </a:endParaRPr>
          </a:p>
          <a:p>
            <a:pPr indent="-317500" lvl="1" marL="914400" rtl="0" algn="l">
              <a:lnSpc>
                <a:spcPct val="115000"/>
              </a:lnSpc>
              <a:spcBef>
                <a:spcPts val="0"/>
              </a:spcBef>
              <a:spcAft>
                <a:spcPts val="0"/>
              </a:spcAft>
              <a:buClr>
                <a:schemeClr val="dk1"/>
              </a:buClr>
              <a:buSzPts val="1400"/>
              <a:buFont typeface="Roboto"/>
              <a:buChar char="○"/>
            </a:pPr>
            <a:r>
              <a:rPr lang="en" sz="1400">
                <a:solidFill>
                  <a:schemeClr val="dk1"/>
                </a:solidFill>
                <a:latin typeface="Roboto"/>
                <a:ea typeface="Roboto"/>
                <a:cs typeface="Roboto"/>
                <a:sym typeface="Roboto"/>
              </a:rPr>
              <a:t>RDBMS is a software or service used to create and manage databases based on a relational model. In fact all 3 of these databases are relational</a:t>
            </a:r>
            <a:endParaRPr sz="1400">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 sz="1400">
                <a:solidFill>
                  <a:schemeClr val="dk1"/>
                </a:solidFill>
                <a:latin typeface="Roboto"/>
                <a:ea typeface="Roboto"/>
                <a:cs typeface="Roboto"/>
                <a:sym typeface="Roboto"/>
              </a:rPr>
              <a:t>Oracle Database:</a:t>
            </a:r>
            <a:endParaRPr sz="1400">
              <a:solidFill>
                <a:schemeClr val="dk1"/>
              </a:solidFill>
              <a:latin typeface="Roboto"/>
              <a:ea typeface="Roboto"/>
              <a:cs typeface="Roboto"/>
              <a:sym typeface="Roboto"/>
            </a:endParaRPr>
          </a:p>
          <a:p>
            <a:pPr indent="-317500" lvl="1" marL="914400" rtl="0" algn="l">
              <a:lnSpc>
                <a:spcPct val="115000"/>
              </a:lnSpc>
              <a:spcBef>
                <a:spcPts val="0"/>
              </a:spcBef>
              <a:spcAft>
                <a:spcPts val="0"/>
              </a:spcAft>
              <a:buClr>
                <a:schemeClr val="dk1"/>
              </a:buClr>
              <a:buSzPts val="1400"/>
              <a:buFont typeface="Roboto"/>
              <a:buChar char="○"/>
            </a:pPr>
            <a:r>
              <a:rPr lang="en" sz="1400">
                <a:solidFill>
                  <a:schemeClr val="dk1"/>
                </a:solidFill>
                <a:latin typeface="Roboto"/>
                <a:ea typeface="Roboto"/>
                <a:cs typeface="Roboto"/>
                <a:sym typeface="Roboto"/>
              </a:rPr>
              <a:t>Oracle Database is a multi-model database management system </a:t>
            </a:r>
            <a:endParaRPr sz="1400">
              <a:solidFill>
                <a:schemeClr val="dk1"/>
              </a:solidFill>
              <a:latin typeface="Roboto"/>
              <a:ea typeface="Roboto"/>
              <a:cs typeface="Roboto"/>
              <a:sym typeface="Roboto"/>
            </a:endParaRPr>
          </a:p>
          <a:p>
            <a:pPr indent="-317500" lvl="1" marL="914400" rtl="0" algn="l">
              <a:lnSpc>
                <a:spcPct val="115000"/>
              </a:lnSpc>
              <a:spcBef>
                <a:spcPts val="0"/>
              </a:spcBef>
              <a:spcAft>
                <a:spcPts val="0"/>
              </a:spcAft>
              <a:buClr>
                <a:schemeClr val="dk1"/>
              </a:buClr>
              <a:buSzPts val="1400"/>
              <a:buFont typeface="Roboto"/>
              <a:buChar char="○"/>
            </a:pPr>
            <a:r>
              <a:rPr lang="en" sz="1400">
                <a:solidFill>
                  <a:schemeClr val="dk1"/>
                </a:solidFill>
                <a:latin typeface="Roboto"/>
                <a:ea typeface="Roboto"/>
                <a:cs typeface="Roboto"/>
                <a:sym typeface="Roboto"/>
              </a:rPr>
              <a:t>It is a database commonly used for running online transaction processing, data warehousing and mixed database workloads.</a:t>
            </a:r>
            <a:endParaRPr sz="1400">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 sz="1400">
                <a:solidFill>
                  <a:schemeClr val="dk1"/>
                </a:solidFill>
                <a:latin typeface="Roboto"/>
                <a:ea typeface="Roboto"/>
                <a:cs typeface="Roboto"/>
                <a:sym typeface="Roboto"/>
              </a:rPr>
              <a:t>IBM:</a:t>
            </a:r>
            <a:endParaRPr sz="1400">
              <a:solidFill>
                <a:schemeClr val="dk1"/>
              </a:solidFill>
              <a:latin typeface="Roboto"/>
              <a:ea typeface="Roboto"/>
              <a:cs typeface="Roboto"/>
              <a:sym typeface="Roboto"/>
            </a:endParaRPr>
          </a:p>
          <a:p>
            <a:pPr indent="-317500" lvl="1" marL="914400" rtl="0" algn="l">
              <a:lnSpc>
                <a:spcPct val="115000"/>
              </a:lnSpc>
              <a:spcBef>
                <a:spcPts val="0"/>
              </a:spcBef>
              <a:spcAft>
                <a:spcPts val="0"/>
              </a:spcAft>
              <a:buClr>
                <a:schemeClr val="dk1"/>
              </a:buClr>
              <a:buSzPts val="1400"/>
              <a:buFont typeface="Roboto"/>
              <a:buChar char="○"/>
            </a:pPr>
            <a:r>
              <a:rPr lang="en" sz="1400">
                <a:solidFill>
                  <a:schemeClr val="dk1"/>
                </a:solidFill>
                <a:latin typeface="Roboto"/>
                <a:ea typeface="Roboto"/>
                <a:cs typeface="Roboto"/>
                <a:sym typeface="Roboto"/>
              </a:rPr>
              <a:t>IBM Db2 is a family of data management products, including the Db2 relational database. The products feature AI-powered capabilities to help you modernize the management of both structured and unstructured data across on-premises and multicloud environments.</a:t>
            </a:r>
            <a:endParaRPr sz="1400">
              <a:solidFill>
                <a:schemeClr val="dk1"/>
              </a:solidFill>
              <a:latin typeface="Roboto"/>
              <a:ea typeface="Roboto"/>
              <a:cs typeface="Roboto"/>
              <a:sym typeface="Roboto"/>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126122950e5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126122950e5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rgbClr val="212529"/>
              </a:buClr>
              <a:buSzPts val="1400"/>
              <a:buFont typeface="Roboto"/>
              <a:buChar char="●"/>
            </a:pPr>
            <a:r>
              <a:rPr lang="en" sz="1400">
                <a:solidFill>
                  <a:srgbClr val="212529"/>
                </a:solidFill>
                <a:latin typeface="Roboto"/>
                <a:ea typeface="Roboto"/>
                <a:cs typeface="Roboto"/>
                <a:sym typeface="Roboto"/>
              </a:rPr>
              <a:t>MySQL is a database system used for developing web-based software applications.</a:t>
            </a:r>
            <a:endParaRPr sz="1400">
              <a:solidFill>
                <a:srgbClr val="212529"/>
              </a:solidFill>
              <a:latin typeface="Roboto"/>
              <a:ea typeface="Roboto"/>
              <a:cs typeface="Roboto"/>
              <a:sym typeface="Roboto"/>
            </a:endParaRPr>
          </a:p>
          <a:p>
            <a:pPr indent="-317500" lvl="0" marL="457200" rtl="0" algn="l">
              <a:lnSpc>
                <a:spcPct val="115000"/>
              </a:lnSpc>
              <a:spcBef>
                <a:spcPts val="0"/>
              </a:spcBef>
              <a:spcAft>
                <a:spcPts val="0"/>
              </a:spcAft>
              <a:buClr>
                <a:srgbClr val="212529"/>
              </a:buClr>
              <a:buSzPts val="1400"/>
              <a:buFont typeface="Roboto"/>
              <a:buChar char="●"/>
            </a:pPr>
            <a:r>
              <a:rPr lang="en" sz="1400">
                <a:solidFill>
                  <a:srgbClr val="212529"/>
                </a:solidFill>
                <a:latin typeface="Roboto"/>
                <a:ea typeface="Roboto"/>
                <a:cs typeface="Roboto"/>
                <a:sym typeface="Roboto"/>
              </a:rPr>
              <a:t>MySQL used for both small and large applications.</a:t>
            </a:r>
            <a:endParaRPr sz="1400">
              <a:solidFill>
                <a:srgbClr val="212529"/>
              </a:solidFill>
              <a:latin typeface="Roboto"/>
              <a:ea typeface="Roboto"/>
              <a:cs typeface="Roboto"/>
              <a:sym typeface="Roboto"/>
            </a:endParaRPr>
          </a:p>
          <a:p>
            <a:pPr indent="-317500" lvl="0" marL="457200" rtl="0" algn="l">
              <a:lnSpc>
                <a:spcPct val="115000"/>
              </a:lnSpc>
              <a:spcBef>
                <a:spcPts val="0"/>
              </a:spcBef>
              <a:spcAft>
                <a:spcPts val="0"/>
              </a:spcAft>
              <a:buClr>
                <a:srgbClr val="212529"/>
              </a:buClr>
              <a:buSzPts val="1400"/>
              <a:buFont typeface="Roboto"/>
              <a:buChar char="●"/>
            </a:pPr>
            <a:r>
              <a:rPr lang="en" sz="1400">
                <a:solidFill>
                  <a:srgbClr val="212529"/>
                </a:solidFill>
                <a:latin typeface="Roboto"/>
                <a:ea typeface="Roboto"/>
                <a:cs typeface="Roboto"/>
                <a:sym typeface="Roboto"/>
              </a:rPr>
              <a:t>MySQL is a relational database management system (RDBMS).</a:t>
            </a:r>
            <a:endParaRPr sz="1400">
              <a:solidFill>
                <a:srgbClr val="212529"/>
              </a:solidFill>
              <a:latin typeface="Roboto"/>
              <a:ea typeface="Roboto"/>
              <a:cs typeface="Roboto"/>
              <a:sym typeface="Roboto"/>
            </a:endParaRPr>
          </a:p>
          <a:p>
            <a:pPr indent="-317500" lvl="0" marL="457200" rtl="0" algn="l">
              <a:lnSpc>
                <a:spcPct val="115000"/>
              </a:lnSpc>
              <a:spcBef>
                <a:spcPts val="0"/>
              </a:spcBef>
              <a:spcAft>
                <a:spcPts val="0"/>
              </a:spcAft>
              <a:buClr>
                <a:srgbClr val="212529"/>
              </a:buClr>
              <a:buSzPts val="1400"/>
              <a:buFont typeface="Roboto"/>
              <a:buChar char="●"/>
            </a:pPr>
            <a:r>
              <a:rPr lang="en" sz="1400">
                <a:solidFill>
                  <a:srgbClr val="212529"/>
                </a:solidFill>
                <a:latin typeface="Roboto"/>
                <a:ea typeface="Roboto"/>
                <a:cs typeface="Roboto"/>
                <a:sym typeface="Roboto"/>
              </a:rPr>
              <a:t>MySQL is fast, reliable, and flexible and easy to use.</a:t>
            </a:r>
            <a:endParaRPr sz="1400">
              <a:solidFill>
                <a:srgbClr val="212529"/>
              </a:solidFill>
              <a:latin typeface="Roboto"/>
              <a:ea typeface="Roboto"/>
              <a:cs typeface="Roboto"/>
              <a:sym typeface="Roboto"/>
            </a:endParaRPr>
          </a:p>
          <a:p>
            <a:pPr indent="-317500" lvl="0" marL="457200" rtl="0" algn="l">
              <a:lnSpc>
                <a:spcPct val="115000"/>
              </a:lnSpc>
              <a:spcBef>
                <a:spcPts val="0"/>
              </a:spcBef>
              <a:spcAft>
                <a:spcPts val="0"/>
              </a:spcAft>
              <a:buClr>
                <a:srgbClr val="212529"/>
              </a:buClr>
              <a:buSzPts val="1400"/>
              <a:buFont typeface="Roboto"/>
              <a:buChar char="●"/>
            </a:pPr>
            <a:r>
              <a:rPr b="1" lang="en" sz="1400">
                <a:solidFill>
                  <a:srgbClr val="212529"/>
                </a:solidFill>
                <a:latin typeface="Roboto"/>
                <a:ea typeface="Roboto"/>
                <a:cs typeface="Roboto"/>
                <a:sym typeface="Roboto"/>
              </a:rPr>
              <a:t>MySQL is free to download and use.</a:t>
            </a:r>
            <a:endParaRPr b="1" sz="1400">
              <a:solidFill>
                <a:srgbClr val="212529"/>
              </a:solidFill>
              <a:latin typeface="Roboto"/>
              <a:ea typeface="Roboto"/>
              <a:cs typeface="Roboto"/>
              <a:sym typeface="Roboto"/>
            </a:endParaRPr>
          </a:p>
          <a:p>
            <a:pPr indent="-317500" lvl="0" marL="457200" rtl="0" algn="l">
              <a:lnSpc>
                <a:spcPct val="115000"/>
              </a:lnSpc>
              <a:spcBef>
                <a:spcPts val="0"/>
              </a:spcBef>
              <a:spcAft>
                <a:spcPts val="0"/>
              </a:spcAft>
              <a:buClr>
                <a:srgbClr val="212529"/>
              </a:buClr>
              <a:buSzPts val="1400"/>
              <a:buFont typeface="Roboto"/>
              <a:buChar char="●"/>
            </a:pPr>
            <a:r>
              <a:rPr lang="en" sz="1400">
                <a:solidFill>
                  <a:srgbClr val="212529"/>
                </a:solidFill>
                <a:latin typeface="Roboto"/>
                <a:ea typeface="Roboto"/>
                <a:cs typeface="Roboto"/>
                <a:sym typeface="Roboto"/>
              </a:rPr>
              <a:t>MySQL Written in C, C++.</a:t>
            </a:r>
            <a:endParaRPr sz="1400">
              <a:solidFill>
                <a:srgbClr val="212529"/>
              </a:solidFill>
              <a:latin typeface="Roboto"/>
              <a:ea typeface="Roboto"/>
              <a:cs typeface="Roboto"/>
              <a:sym typeface="Roboto"/>
            </a:endParaRPr>
          </a:p>
          <a:p>
            <a:pPr indent="0" lvl="0" marL="0" rtl="0" algn="l">
              <a:lnSpc>
                <a:spcPct val="130000"/>
              </a:lnSpc>
              <a:spcBef>
                <a:spcPts val="1800"/>
              </a:spcBef>
              <a:spcAft>
                <a:spcPts val="0"/>
              </a:spcAft>
              <a:buClr>
                <a:schemeClr val="dk1"/>
              </a:buClr>
              <a:buSzPts val="1100"/>
              <a:buFont typeface="Arial"/>
              <a:buNone/>
            </a:pPr>
            <a:r>
              <a:rPr b="1" lang="en" sz="1900">
                <a:solidFill>
                  <a:srgbClr val="343A40"/>
                </a:solidFill>
                <a:latin typeface="Roboto"/>
                <a:ea typeface="Roboto"/>
                <a:cs typeface="Roboto"/>
                <a:sym typeface="Roboto"/>
              </a:rPr>
              <a:t>Main Features of MySQL</a:t>
            </a:r>
            <a:endParaRPr b="1" sz="1900">
              <a:solidFill>
                <a:srgbClr val="343A40"/>
              </a:solidFill>
              <a:latin typeface="Roboto"/>
              <a:ea typeface="Roboto"/>
              <a:cs typeface="Roboto"/>
              <a:sym typeface="Roboto"/>
            </a:endParaRPr>
          </a:p>
          <a:p>
            <a:pPr indent="-317500" lvl="0" marL="457200" rtl="0" algn="l">
              <a:lnSpc>
                <a:spcPct val="115000"/>
              </a:lnSpc>
              <a:spcBef>
                <a:spcPts val="400"/>
              </a:spcBef>
              <a:spcAft>
                <a:spcPts val="0"/>
              </a:spcAft>
              <a:buClr>
                <a:srgbClr val="212529"/>
              </a:buClr>
              <a:buSzPts val="1400"/>
              <a:buFont typeface="Roboto"/>
              <a:buChar char="●"/>
            </a:pPr>
            <a:r>
              <a:rPr lang="en" sz="1400">
                <a:solidFill>
                  <a:srgbClr val="212529"/>
                </a:solidFill>
                <a:latin typeface="Roboto"/>
                <a:ea typeface="Roboto"/>
                <a:cs typeface="Roboto"/>
                <a:sym typeface="Roboto"/>
              </a:rPr>
              <a:t>MySQL server design is multi-layered with independent modules.</a:t>
            </a:r>
            <a:endParaRPr sz="1400">
              <a:solidFill>
                <a:srgbClr val="212529"/>
              </a:solidFill>
              <a:latin typeface="Roboto"/>
              <a:ea typeface="Roboto"/>
              <a:cs typeface="Roboto"/>
              <a:sym typeface="Roboto"/>
            </a:endParaRPr>
          </a:p>
          <a:p>
            <a:pPr indent="-317500" lvl="0" marL="457200" rtl="0" algn="l">
              <a:lnSpc>
                <a:spcPct val="115000"/>
              </a:lnSpc>
              <a:spcBef>
                <a:spcPts val="0"/>
              </a:spcBef>
              <a:spcAft>
                <a:spcPts val="0"/>
              </a:spcAft>
              <a:buClr>
                <a:srgbClr val="212529"/>
              </a:buClr>
              <a:buSzPts val="1400"/>
              <a:buFont typeface="Roboto"/>
              <a:buChar char="●"/>
            </a:pPr>
            <a:r>
              <a:rPr lang="en" sz="1400">
                <a:solidFill>
                  <a:srgbClr val="212529"/>
                </a:solidFill>
                <a:latin typeface="Roboto"/>
                <a:ea typeface="Roboto"/>
                <a:cs typeface="Roboto"/>
                <a:sym typeface="Roboto"/>
              </a:rPr>
              <a:t>MySQL is fully multithreaded by using kernel threads. It can handle multiple CPUs if they are available. Which it means it is scalable and can take advantage of more powerful hardware</a:t>
            </a:r>
            <a:endParaRPr sz="1400">
              <a:solidFill>
                <a:srgbClr val="212529"/>
              </a:solidFill>
              <a:latin typeface="Roboto"/>
              <a:ea typeface="Roboto"/>
              <a:cs typeface="Roboto"/>
              <a:sym typeface="Roboto"/>
            </a:endParaRPr>
          </a:p>
          <a:p>
            <a:pPr indent="-317500" lvl="0" marL="457200" rtl="0" algn="l">
              <a:lnSpc>
                <a:spcPct val="115000"/>
              </a:lnSpc>
              <a:spcBef>
                <a:spcPts val="0"/>
              </a:spcBef>
              <a:spcAft>
                <a:spcPts val="0"/>
              </a:spcAft>
              <a:buClr>
                <a:srgbClr val="212529"/>
              </a:buClr>
              <a:buSzPts val="1400"/>
              <a:buFont typeface="Roboto"/>
              <a:buChar char="●"/>
            </a:pPr>
            <a:r>
              <a:rPr lang="en" sz="1400">
                <a:solidFill>
                  <a:srgbClr val="212529"/>
                </a:solidFill>
                <a:latin typeface="Roboto"/>
                <a:ea typeface="Roboto"/>
                <a:cs typeface="Roboto"/>
                <a:sym typeface="Roboto"/>
              </a:rPr>
              <a:t>MySQL provides transactional and non-transactional storage engines.</a:t>
            </a:r>
            <a:endParaRPr sz="1400">
              <a:solidFill>
                <a:srgbClr val="212529"/>
              </a:solidFill>
              <a:latin typeface="Roboto"/>
              <a:ea typeface="Roboto"/>
              <a:cs typeface="Roboto"/>
              <a:sym typeface="Roboto"/>
            </a:endParaRPr>
          </a:p>
          <a:p>
            <a:pPr indent="-317500" lvl="0" marL="457200" rtl="0" algn="l">
              <a:lnSpc>
                <a:spcPct val="115000"/>
              </a:lnSpc>
              <a:spcBef>
                <a:spcPts val="0"/>
              </a:spcBef>
              <a:spcAft>
                <a:spcPts val="0"/>
              </a:spcAft>
              <a:buClr>
                <a:srgbClr val="212529"/>
              </a:buClr>
              <a:buSzPts val="1400"/>
              <a:buFont typeface="Roboto"/>
              <a:buChar char="●"/>
            </a:pPr>
            <a:r>
              <a:rPr lang="en" sz="1400">
                <a:solidFill>
                  <a:srgbClr val="212529"/>
                </a:solidFill>
                <a:latin typeface="Roboto"/>
                <a:ea typeface="Roboto"/>
                <a:cs typeface="Roboto"/>
                <a:sym typeface="Roboto"/>
              </a:rPr>
              <a:t>MySQL has a high-speed thread-based memory allocation system.</a:t>
            </a:r>
            <a:endParaRPr sz="1400">
              <a:solidFill>
                <a:srgbClr val="212529"/>
              </a:solidFill>
              <a:latin typeface="Roboto"/>
              <a:ea typeface="Roboto"/>
              <a:cs typeface="Roboto"/>
              <a:sym typeface="Roboto"/>
            </a:endParaRPr>
          </a:p>
          <a:p>
            <a:pPr indent="-317500" lvl="0" marL="457200" rtl="0" algn="l">
              <a:lnSpc>
                <a:spcPct val="115000"/>
              </a:lnSpc>
              <a:spcBef>
                <a:spcPts val="0"/>
              </a:spcBef>
              <a:spcAft>
                <a:spcPts val="0"/>
              </a:spcAft>
              <a:buClr>
                <a:srgbClr val="212529"/>
              </a:buClr>
              <a:buSzPts val="1400"/>
              <a:buFont typeface="Roboto"/>
              <a:buChar char="●"/>
            </a:pPr>
            <a:r>
              <a:rPr lang="en" sz="1400">
                <a:solidFill>
                  <a:srgbClr val="212529"/>
                </a:solidFill>
                <a:latin typeface="Roboto"/>
                <a:ea typeface="Roboto"/>
                <a:cs typeface="Roboto"/>
                <a:sym typeface="Roboto"/>
              </a:rPr>
              <a:t>MySQL supports in-memory heap table.</a:t>
            </a:r>
            <a:endParaRPr sz="1400">
              <a:solidFill>
                <a:srgbClr val="212529"/>
              </a:solidFill>
              <a:latin typeface="Roboto"/>
              <a:ea typeface="Roboto"/>
              <a:cs typeface="Roboto"/>
              <a:sym typeface="Roboto"/>
            </a:endParaRPr>
          </a:p>
          <a:p>
            <a:pPr indent="-317500" lvl="0" marL="457200" rtl="0" algn="l">
              <a:lnSpc>
                <a:spcPct val="115000"/>
              </a:lnSpc>
              <a:spcBef>
                <a:spcPts val="0"/>
              </a:spcBef>
              <a:spcAft>
                <a:spcPts val="0"/>
              </a:spcAft>
              <a:buClr>
                <a:srgbClr val="212529"/>
              </a:buClr>
              <a:buSzPts val="1400"/>
              <a:buFont typeface="Roboto"/>
              <a:buChar char="●"/>
            </a:pPr>
            <a:r>
              <a:rPr lang="en" sz="1400">
                <a:solidFill>
                  <a:srgbClr val="212529"/>
                </a:solidFill>
                <a:latin typeface="Roboto"/>
                <a:ea typeface="Roboto"/>
                <a:cs typeface="Roboto"/>
                <a:sym typeface="Roboto"/>
              </a:rPr>
              <a:t>MySQL Handles large databases.</a:t>
            </a:r>
            <a:endParaRPr sz="1400">
              <a:solidFill>
                <a:srgbClr val="212529"/>
              </a:solidFill>
              <a:latin typeface="Roboto"/>
              <a:ea typeface="Roboto"/>
              <a:cs typeface="Roboto"/>
              <a:sym typeface="Roboto"/>
            </a:endParaRPr>
          </a:p>
          <a:p>
            <a:pPr indent="-317500" lvl="0" marL="457200" rtl="0" algn="l">
              <a:lnSpc>
                <a:spcPct val="115000"/>
              </a:lnSpc>
              <a:spcBef>
                <a:spcPts val="0"/>
              </a:spcBef>
              <a:spcAft>
                <a:spcPts val="0"/>
              </a:spcAft>
              <a:buClr>
                <a:srgbClr val="212529"/>
              </a:buClr>
              <a:buSzPts val="1400"/>
              <a:buFont typeface="Roboto"/>
              <a:buChar char="●"/>
            </a:pPr>
            <a:r>
              <a:rPr lang="en" sz="1400">
                <a:solidFill>
                  <a:srgbClr val="212529"/>
                </a:solidFill>
                <a:latin typeface="Roboto"/>
                <a:ea typeface="Roboto"/>
                <a:cs typeface="Roboto"/>
                <a:sym typeface="Roboto"/>
              </a:rPr>
              <a:t>MySQL Server works in client/server or embedded systems.</a:t>
            </a:r>
            <a:endParaRPr sz="1400">
              <a:solidFill>
                <a:srgbClr val="212529"/>
              </a:solidFill>
              <a:latin typeface="Roboto"/>
              <a:ea typeface="Roboto"/>
              <a:cs typeface="Roboto"/>
              <a:sym typeface="Roboto"/>
            </a:endParaRPr>
          </a:p>
          <a:p>
            <a:pPr indent="-317500" lvl="0" marL="457200" rtl="0" algn="l">
              <a:lnSpc>
                <a:spcPct val="115000"/>
              </a:lnSpc>
              <a:spcBef>
                <a:spcPts val="0"/>
              </a:spcBef>
              <a:spcAft>
                <a:spcPts val="0"/>
              </a:spcAft>
              <a:buClr>
                <a:srgbClr val="212529"/>
              </a:buClr>
              <a:buSzPts val="1400"/>
              <a:buFont typeface="Roboto"/>
              <a:buChar char="●"/>
            </a:pPr>
            <a:r>
              <a:rPr lang="en" sz="1400">
                <a:solidFill>
                  <a:srgbClr val="212529"/>
                </a:solidFill>
                <a:latin typeface="Roboto"/>
                <a:ea typeface="Roboto"/>
                <a:cs typeface="Roboto"/>
                <a:sym typeface="Roboto"/>
              </a:rPr>
              <a:t>MySQL Works on many different platforms.</a:t>
            </a:r>
            <a:endParaRPr sz="1400">
              <a:solidFill>
                <a:srgbClr val="212529"/>
              </a:solidFill>
              <a:latin typeface="Roboto"/>
              <a:ea typeface="Roboto"/>
              <a:cs typeface="Roboto"/>
              <a:sym typeface="Roboto"/>
            </a:endParaRPr>
          </a:p>
          <a:p>
            <a:pPr indent="0" lvl="0" marL="0" rtl="0" algn="l">
              <a:lnSpc>
                <a:spcPct val="130000"/>
              </a:lnSpc>
              <a:spcBef>
                <a:spcPts val="1800"/>
              </a:spcBef>
              <a:spcAft>
                <a:spcPts val="0"/>
              </a:spcAft>
              <a:buClr>
                <a:schemeClr val="dk1"/>
              </a:buClr>
              <a:buSzPts val="1100"/>
              <a:buFont typeface="Arial"/>
              <a:buNone/>
            </a:pPr>
            <a:r>
              <a:rPr b="1" lang="en" sz="1900">
                <a:solidFill>
                  <a:srgbClr val="343A40"/>
                </a:solidFill>
                <a:latin typeface="Roboto"/>
                <a:ea typeface="Roboto"/>
                <a:cs typeface="Roboto"/>
                <a:sym typeface="Roboto"/>
              </a:rPr>
              <a:t>Who Uses MySQL</a:t>
            </a:r>
            <a:endParaRPr b="1" sz="1900">
              <a:solidFill>
                <a:srgbClr val="343A40"/>
              </a:solidFill>
              <a:latin typeface="Roboto"/>
              <a:ea typeface="Roboto"/>
              <a:cs typeface="Roboto"/>
              <a:sym typeface="Roboto"/>
            </a:endParaRPr>
          </a:p>
          <a:p>
            <a:pPr indent="-317500" lvl="0" marL="457200" rtl="0" algn="l">
              <a:lnSpc>
                <a:spcPct val="115000"/>
              </a:lnSpc>
              <a:spcBef>
                <a:spcPts val="400"/>
              </a:spcBef>
              <a:spcAft>
                <a:spcPts val="0"/>
              </a:spcAft>
              <a:buClr>
                <a:srgbClr val="212529"/>
              </a:buClr>
              <a:buSzPts val="1400"/>
              <a:buFont typeface="Roboto"/>
              <a:buChar char="●"/>
            </a:pPr>
            <a:r>
              <a:rPr lang="en" sz="1400">
                <a:solidFill>
                  <a:srgbClr val="212529"/>
                </a:solidFill>
                <a:latin typeface="Roboto"/>
                <a:ea typeface="Roboto"/>
                <a:cs typeface="Roboto"/>
                <a:sym typeface="Roboto"/>
              </a:rPr>
              <a:t>Some of the most famous websites like Facebook, Wikipedia, Google (not for search), YouTube, Flickr.</a:t>
            </a:r>
            <a:endParaRPr sz="1400">
              <a:solidFill>
                <a:srgbClr val="212529"/>
              </a:solidFill>
              <a:latin typeface="Roboto"/>
              <a:ea typeface="Roboto"/>
              <a:cs typeface="Roboto"/>
              <a:sym typeface="Roboto"/>
            </a:endParaRPr>
          </a:p>
          <a:p>
            <a:pPr indent="-317500" lvl="0" marL="457200" rtl="0" algn="l">
              <a:lnSpc>
                <a:spcPct val="115000"/>
              </a:lnSpc>
              <a:spcBef>
                <a:spcPts val="0"/>
              </a:spcBef>
              <a:spcAft>
                <a:spcPts val="0"/>
              </a:spcAft>
              <a:buClr>
                <a:srgbClr val="212529"/>
              </a:buClr>
              <a:buSzPts val="1400"/>
              <a:buFont typeface="Roboto"/>
              <a:buChar char="●"/>
            </a:pPr>
            <a:r>
              <a:rPr lang="en" sz="1400">
                <a:solidFill>
                  <a:srgbClr val="212529"/>
                </a:solidFill>
                <a:latin typeface="Roboto"/>
                <a:ea typeface="Roboto"/>
                <a:cs typeface="Roboto"/>
                <a:sym typeface="Roboto"/>
              </a:rPr>
              <a:t>Content Management Systems (CMS) like WordPress, Drupal, Joomla, phpBB etc.</a:t>
            </a:r>
            <a:endParaRPr sz="1400">
              <a:solidFill>
                <a:srgbClr val="212529"/>
              </a:solidFill>
              <a:latin typeface="Roboto"/>
              <a:ea typeface="Roboto"/>
              <a:cs typeface="Roboto"/>
              <a:sym typeface="Roboto"/>
            </a:endParaRPr>
          </a:p>
          <a:p>
            <a:pPr indent="-317500" lvl="0" marL="457200" rtl="0" algn="l">
              <a:lnSpc>
                <a:spcPct val="115000"/>
              </a:lnSpc>
              <a:spcBef>
                <a:spcPts val="0"/>
              </a:spcBef>
              <a:spcAft>
                <a:spcPts val="0"/>
              </a:spcAft>
              <a:buClr>
                <a:srgbClr val="212529"/>
              </a:buClr>
              <a:buSzPts val="1400"/>
              <a:buFont typeface="Roboto"/>
              <a:buChar char="●"/>
            </a:pPr>
            <a:r>
              <a:rPr lang="en" sz="1400">
                <a:solidFill>
                  <a:srgbClr val="212529"/>
                </a:solidFill>
                <a:latin typeface="Roboto"/>
                <a:ea typeface="Roboto"/>
                <a:cs typeface="Roboto"/>
                <a:sym typeface="Roboto"/>
              </a:rPr>
              <a:t>A large number of web developers worldwide are using MySQL to develop web applications.</a:t>
            </a:r>
            <a:endParaRPr sz="1400">
              <a:solidFill>
                <a:srgbClr val="212529"/>
              </a:solidFill>
              <a:latin typeface="Roboto"/>
              <a:ea typeface="Roboto"/>
              <a:cs typeface="Roboto"/>
              <a:sym typeface="Roboto"/>
            </a:endParaRPr>
          </a:p>
          <a:p>
            <a:pPr indent="0" lvl="0" marL="0" rtl="0" algn="l">
              <a:spcBef>
                <a:spcPts val="1200"/>
              </a:spcBef>
              <a:spcAft>
                <a:spcPts val="0"/>
              </a:spcAft>
              <a:buNone/>
            </a:pPr>
            <a:r>
              <a:t/>
            </a:r>
            <a:endParaRPr sz="13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126122950e5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126122950e5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lang="en" sz="1700">
                <a:solidFill>
                  <a:schemeClr val="dk1"/>
                </a:solidFill>
                <a:highlight>
                  <a:srgbClr val="FFFFFF"/>
                </a:highlight>
                <a:latin typeface="Roboto"/>
                <a:ea typeface="Roboto"/>
                <a:cs typeface="Roboto"/>
                <a:sym typeface="Roboto"/>
              </a:rPr>
              <a:t>Oracle Database features</a:t>
            </a:r>
            <a:endParaRPr sz="1700">
              <a:solidFill>
                <a:schemeClr val="dk1"/>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en" sz="1200">
                <a:solidFill>
                  <a:schemeClr val="dk1"/>
                </a:solidFill>
                <a:highlight>
                  <a:srgbClr val="FFFFFF"/>
                </a:highlight>
                <a:latin typeface="Roboto"/>
                <a:ea typeface="Roboto"/>
                <a:cs typeface="Roboto"/>
                <a:sym typeface="Roboto"/>
              </a:rPr>
              <a:t>Oracle Database allows you to quickly and safely store and retrieve data. Here are the integration benefits of the Oracle Database:</a:t>
            </a:r>
            <a:endParaRPr sz="1200">
              <a:solidFill>
                <a:schemeClr val="dk1"/>
              </a:solidFill>
              <a:highlight>
                <a:srgbClr val="FFFFFF"/>
              </a:highlight>
              <a:latin typeface="Roboto"/>
              <a:ea typeface="Roboto"/>
              <a:cs typeface="Roboto"/>
              <a:sym typeface="Roboto"/>
            </a:endParaRPr>
          </a:p>
          <a:p>
            <a:pPr indent="-304800" lvl="0" marL="457200" rtl="0" algn="l">
              <a:lnSpc>
                <a:spcPct val="115000"/>
              </a:lnSpc>
              <a:spcBef>
                <a:spcPts val="1200"/>
              </a:spcBef>
              <a:spcAft>
                <a:spcPts val="0"/>
              </a:spcAft>
              <a:buClr>
                <a:schemeClr val="dk1"/>
              </a:buClr>
              <a:buSzPts val="1200"/>
              <a:buFont typeface="Roboto"/>
              <a:buChar char="●"/>
            </a:pPr>
            <a:r>
              <a:rPr lang="en" sz="1200">
                <a:solidFill>
                  <a:schemeClr val="dk1"/>
                </a:solidFill>
                <a:highlight>
                  <a:srgbClr val="FFFFFF"/>
                </a:highlight>
                <a:latin typeface="Roboto"/>
                <a:ea typeface="Roboto"/>
                <a:cs typeface="Roboto"/>
                <a:sym typeface="Roboto"/>
              </a:rPr>
              <a:t>Oracle Database is cross-platform. It can run on various hardware across operating systems including Windows Server, Unix, and various distributions of GNU/Linux.</a:t>
            </a:r>
            <a:endParaRPr sz="1200">
              <a:solidFill>
                <a:schemeClr val="dk1"/>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highlight>
                  <a:srgbClr val="FFFFFF"/>
                </a:highlight>
                <a:latin typeface="Roboto"/>
                <a:ea typeface="Roboto"/>
                <a:cs typeface="Roboto"/>
                <a:sym typeface="Roboto"/>
              </a:rPr>
              <a:t>Oracle Database has its networking stack that allows application from a different platform to communicate with the Oracle Database smoothly. For example, applications running on Windows can connect to the Oracle Database running on Unix.</a:t>
            </a:r>
            <a:endParaRPr sz="1200">
              <a:solidFill>
                <a:schemeClr val="dk1"/>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highlight>
                  <a:srgbClr val="FFFFFF"/>
                </a:highlight>
                <a:latin typeface="Roboto"/>
                <a:ea typeface="Roboto"/>
                <a:cs typeface="Roboto"/>
                <a:sym typeface="Roboto"/>
              </a:rPr>
              <a:t>ACID-compliant – Oracle is ACID-compliant Database that helps maintain data integrity and reliability.</a:t>
            </a:r>
            <a:endParaRPr sz="1200">
              <a:solidFill>
                <a:schemeClr val="dk1"/>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chemeClr val="dk1"/>
              </a:buClr>
              <a:buSzPts val="1200"/>
              <a:buFont typeface="Roboto"/>
              <a:buChar char="●"/>
            </a:pPr>
            <a:r>
              <a:rPr lang="en" sz="1200">
                <a:solidFill>
                  <a:schemeClr val="dk1"/>
                </a:solidFill>
                <a:highlight>
                  <a:srgbClr val="FFFFFF"/>
                </a:highlight>
                <a:latin typeface="Roboto"/>
                <a:ea typeface="Roboto"/>
                <a:cs typeface="Roboto"/>
                <a:sym typeface="Roboto"/>
              </a:rPr>
              <a:t>Commitment to open technologies – Oracle is one of the first Database that supported GNU/Linux in the late 1990s before GNU/Linux become a commerce product. It has been supporting this open platform since then.</a:t>
            </a:r>
            <a:endParaRPr sz="1200">
              <a:solidFill>
                <a:schemeClr val="dk1"/>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None/>
            </a:pPr>
            <a:r>
              <a:rPr lang="en" sz="1200">
                <a:solidFill>
                  <a:schemeClr val="dk1"/>
                </a:solidFill>
                <a:highlight>
                  <a:srgbClr val="FFFFFF"/>
                </a:highlight>
                <a:latin typeface="Roboto"/>
                <a:ea typeface="Roboto"/>
                <a:cs typeface="Roboto"/>
                <a:sym typeface="Roboto"/>
              </a:rPr>
              <a:t>Benefits</a:t>
            </a:r>
            <a:r>
              <a:rPr lang="en" sz="1200">
                <a:solidFill>
                  <a:schemeClr val="dk1"/>
                </a:solidFill>
                <a:highlight>
                  <a:srgbClr val="FFFFFF"/>
                </a:highlight>
                <a:latin typeface="Roboto"/>
                <a:ea typeface="Roboto"/>
                <a:cs typeface="Roboto"/>
                <a:sym typeface="Roboto"/>
              </a:rPr>
              <a:t> of Oracle Database: </a:t>
            </a:r>
            <a:endParaRPr sz="1200">
              <a:solidFill>
                <a:schemeClr val="dk1"/>
              </a:solidFill>
              <a:highlight>
                <a:srgbClr val="FFFFFF"/>
              </a:highlight>
              <a:latin typeface="Roboto"/>
              <a:ea typeface="Roboto"/>
              <a:cs typeface="Roboto"/>
              <a:sym typeface="Roboto"/>
            </a:endParaRPr>
          </a:p>
          <a:p>
            <a:pPr indent="-317500" lvl="0" marL="457200" rtl="0" algn="l">
              <a:lnSpc>
                <a:spcPct val="115000"/>
              </a:lnSpc>
              <a:spcBef>
                <a:spcPts val="1200"/>
              </a:spcBef>
              <a:spcAft>
                <a:spcPts val="0"/>
              </a:spcAft>
              <a:buClr>
                <a:schemeClr val="dk1"/>
              </a:buClr>
              <a:buSzPts val="1400"/>
              <a:buFont typeface="Times New Roman"/>
              <a:buChar char="●"/>
            </a:pPr>
            <a:r>
              <a:rPr lang="en" sz="1400">
                <a:solidFill>
                  <a:schemeClr val="dk1"/>
                </a:solidFill>
                <a:latin typeface="Times New Roman"/>
                <a:ea typeface="Times New Roman"/>
                <a:cs typeface="Times New Roman"/>
                <a:sym typeface="Times New Roman"/>
              </a:rPr>
              <a:t>Lets users consolidate multiple databases into a single database, that shrinks operations and licensing costs.</a:t>
            </a:r>
            <a:endParaRPr sz="1400">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 sz="1400">
                <a:solidFill>
                  <a:schemeClr val="dk1"/>
                </a:solidFill>
                <a:latin typeface="Times New Roman"/>
                <a:ea typeface="Times New Roman"/>
                <a:cs typeface="Times New Roman"/>
                <a:sym typeface="Times New Roman"/>
              </a:rPr>
              <a:t>The single database approach offers numerous advantages.</a:t>
            </a:r>
            <a:endParaRPr sz="1400">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 sz="1400">
                <a:solidFill>
                  <a:schemeClr val="dk1"/>
                </a:solidFill>
                <a:latin typeface="Times New Roman"/>
                <a:ea typeface="Times New Roman"/>
                <a:cs typeface="Times New Roman"/>
                <a:sym typeface="Times New Roman"/>
              </a:rPr>
              <a:t>The database has a high resistance to data crashes.</a:t>
            </a:r>
            <a:endParaRPr sz="1400">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 sz="1400">
                <a:solidFill>
                  <a:schemeClr val="dk1"/>
                </a:solidFill>
                <a:latin typeface="Times New Roman"/>
                <a:ea typeface="Times New Roman"/>
                <a:cs typeface="Times New Roman"/>
                <a:sym typeface="Times New Roman"/>
              </a:rPr>
              <a:t>The application has a quick online backup and recovery system. </a:t>
            </a:r>
            <a:endParaRPr sz="1400">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 sz="1400">
                <a:solidFill>
                  <a:schemeClr val="dk1"/>
                </a:solidFill>
                <a:latin typeface="Times New Roman"/>
                <a:ea typeface="Times New Roman"/>
                <a:cs typeface="Times New Roman"/>
                <a:sym typeface="Times New Roman"/>
              </a:rPr>
              <a:t>The database provides all the advantages of a secure hybrid cloud environment. It cuts IT costs, adds flexibility, and offers more data deployment options than competitors. </a:t>
            </a:r>
            <a:endParaRPr sz="1400">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lang="en" sz="1400">
                <a:solidFill>
                  <a:schemeClr val="dk1"/>
                </a:solidFill>
                <a:latin typeface="Times New Roman"/>
                <a:ea typeface="Times New Roman"/>
                <a:cs typeface="Times New Roman"/>
                <a:sym typeface="Times New Roman"/>
              </a:rPr>
              <a:t>It also verifies the identity of a user trying to access an object.</a:t>
            </a:r>
            <a:endParaRPr sz="1400">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Font typeface="Times New Roman"/>
              <a:buChar char="●"/>
            </a:pPr>
            <a:r>
              <a:rPr b="1" lang="en" sz="1400">
                <a:solidFill>
                  <a:schemeClr val="dk1"/>
                </a:solidFill>
                <a:latin typeface="Times New Roman"/>
                <a:ea typeface="Times New Roman"/>
                <a:cs typeface="Times New Roman"/>
                <a:sym typeface="Times New Roman"/>
              </a:rPr>
              <a:t>Includes Flashback technology:</a:t>
            </a:r>
            <a:endParaRPr b="1" sz="1400">
              <a:solidFill>
                <a:schemeClr val="dk1"/>
              </a:solidFill>
              <a:latin typeface="Times New Roman"/>
              <a:ea typeface="Times New Roman"/>
              <a:cs typeface="Times New Roman"/>
              <a:sym typeface="Times New Roman"/>
            </a:endParaRPr>
          </a:p>
          <a:p>
            <a:pPr indent="-317500" lvl="1" marL="914400" rtl="0" algn="l">
              <a:lnSpc>
                <a:spcPct val="115000"/>
              </a:lnSpc>
              <a:spcBef>
                <a:spcPts val="0"/>
              </a:spcBef>
              <a:spcAft>
                <a:spcPts val="0"/>
              </a:spcAft>
              <a:buClr>
                <a:schemeClr val="dk1"/>
              </a:buClr>
              <a:buSzPts val="1400"/>
              <a:buFont typeface="Times New Roman"/>
              <a:buChar char="○"/>
            </a:pPr>
            <a:r>
              <a:rPr lang="en" sz="1400">
                <a:solidFill>
                  <a:schemeClr val="dk1"/>
                </a:solidFill>
                <a:latin typeface="Times New Roman"/>
                <a:ea typeface="Times New Roman"/>
                <a:cs typeface="Times New Roman"/>
                <a:sym typeface="Times New Roman"/>
              </a:rPr>
              <a:t>Flashback allows you to recover data incorrectly deleted or lost. That essentially removes human error and decreases database recovery time.</a:t>
            </a:r>
            <a:endParaRPr sz="1400">
              <a:solidFill>
                <a:schemeClr val="dk1"/>
              </a:solidFill>
              <a:latin typeface="Times New Roman"/>
              <a:ea typeface="Times New Roman"/>
              <a:cs typeface="Times New Roman"/>
              <a:sym typeface="Times New Roman"/>
            </a:endParaRPr>
          </a:p>
          <a:p>
            <a:pPr indent="0" lvl="0" marL="914400" rtl="0" algn="l">
              <a:lnSpc>
                <a:spcPct val="115000"/>
              </a:lnSpc>
              <a:spcBef>
                <a:spcPts val="1200"/>
              </a:spcBef>
              <a:spcAft>
                <a:spcPts val="0"/>
              </a:spcAft>
              <a:buClr>
                <a:schemeClr val="dk1"/>
              </a:buClr>
              <a:buSzPts val="1100"/>
              <a:buFont typeface="Arial"/>
              <a:buNone/>
            </a:pPr>
            <a:r>
              <a:t/>
            </a:r>
            <a:endParaRPr sz="1800">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t/>
            </a:r>
            <a:endParaRPr sz="1200">
              <a:solidFill>
                <a:schemeClr val="dk1"/>
              </a:solidFill>
              <a:highlight>
                <a:srgbClr val="FFFFFF"/>
              </a:highlight>
              <a:latin typeface="Roboto"/>
              <a:ea typeface="Roboto"/>
              <a:cs typeface="Roboto"/>
              <a:sym typeface="Roboto"/>
            </a:endParaRPr>
          </a:p>
          <a:p>
            <a:pPr indent="0" lvl="0" marL="0" rtl="0" algn="l">
              <a:spcBef>
                <a:spcPts val="1200"/>
              </a:spcBef>
              <a:spcAft>
                <a:spcPts val="0"/>
              </a:spcAft>
              <a:buNone/>
            </a:pPr>
            <a:r>
              <a:t/>
            </a:r>
            <a:endParaRPr sz="1800">
              <a:solidFill>
                <a:schemeClr val="dk1"/>
              </a:solidFill>
              <a:latin typeface="Roboto"/>
              <a:ea typeface="Roboto"/>
              <a:cs typeface="Roboto"/>
              <a:sym typeface="Roboto"/>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126122950e5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126122950e5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36550" lvl="0" marL="457200" rtl="0" algn="l">
              <a:lnSpc>
                <a:spcPct val="115000"/>
              </a:lnSpc>
              <a:spcBef>
                <a:spcPts val="0"/>
              </a:spcBef>
              <a:spcAft>
                <a:spcPts val="0"/>
              </a:spcAft>
              <a:buClr>
                <a:schemeClr val="dk1"/>
              </a:buClr>
              <a:buSzPts val="1700"/>
              <a:buFont typeface="Arial"/>
              <a:buChar char="●"/>
            </a:pPr>
            <a:r>
              <a:rPr lang="en" sz="1700">
                <a:solidFill>
                  <a:schemeClr val="dk1"/>
                </a:solidFill>
              </a:rPr>
              <a:t>relational database management system</a:t>
            </a:r>
            <a:endParaRPr sz="1700">
              <a:solidFill>
                <a:schemeClr val="dk1"/>
              </a:solidFill>
            </a:endParaRPr>
          </a:p>
          <a:p>
            <a:pPr indent="-336550" lvl="0" marL="457200" rtl="0" algn="l">
              <a:lnSpc>
                <a:spcPct val="115000"/>
              </a:lnSpc>
              <a:spcBef>
                <a:spcPts val="0"/>
              </a:spcBef>
              <a:spcAft>
                <a:spcPts val="0"/>
              </a:spcAft>
              <a:buClr>
                <a:schemeClr val="dk1"/>
              </a:buClr>
              <a:buSzPts val="1700"/>
              <a:buFont typeface="Arial"/>
              <a:buChar char="●"/>
            </a:pPr>
            <a:r>
              <a:rPr lang="en" sz="1700">
                <a:solidFill>
                  <a:schemeClr val="dk1"/>
                </a:solidFill>
              </a:rPr>
              <a:t>developed for resilience, efficiency, and pricing</a:t>
            </a:r>
            <a:endParaRPr sz="1700">
              <a:solidFill>
                <a:schemeClr val="dk1"/>
              </a:solidFill>
            </a:endParaRPr>
          </a:p>
          <a:p>
            <a:pPr indent="-336550" lvl="0" marL="457200" rtl="0" algn="l">
              <a:lnSpc>
                <a:spcPct val="115000"/>
              </a:lnSpc>
              <a:spcBef>
                <a:spcPts val="0"/>
              </a:spcBef>
              <a:spcAft>
                <a:spcPts val="0"/>
              </a:spcAft>
              <a:buClr>
                <a:schemeClr val="dk1"/>
              </a:buClr>
              <a:buSzPts val="1700"/>
              <a:buFont typeface="Arial"/>
              <a:buChar char="●"/>
            </a:pPr>
            <a:r>
              <a:rPr lang="en" sz="1700">
                <a:solidFill>
                  <a:schemeClr val="dk1"/>
                </a:solidFill>
              </a:rPr>
              <a:t>make it easier and  simple for user to  access data</a:t>
            </a:r>
            <a:endParaRPr sz="1700">
              <a:solidFill>
                <a:schemeClr val="dk1"/>
              </a:solidFill>
            </a:endParaRPr>
          </a:p>
          <a:p>
            <a:pPr indent="-336550" lvl="0" marL="457200" rtl="0" algn="l">
              <a:lnSpc>
                <a:spcPct val="115000"/>
              </a:lnSpc>
              <a:spcBef>
                <a:spcPts val="0"/>
              </a:spcBef>
              <a:spcAft>
                <a:spcPts val="0"/>
              </a:spcAft>
              <a:buClr>
                <a:schemeClr val="dk1"/>
              </a:buClr>
              <a:buSzPts val="1700"/>
              <a:buFont typeface="Arial"/>
              <a:buChar char="●"/>
            </a:pPr>
            <a:r>
              <a:rPr lang="en" sz="1700">
                <a:solidFill>
                  <a:schemeClr val="dk1"/>
                </a:solidFill>
              </a:rPr>
              <a:t>The main goal of IBM Db2 is for business to see the importance and value of AI</a:t>
            </a:r>
            <a:endParaRPr sz="1700">
              <a:solidFill>
                <a:schemeClr val="dk1"/>
              </a:solidFill>
            </a:endParaRPr>
          </a:p>
          <a:p>
            <a:pPr indent="0" lvl="0" marL="0" rtl="0" algn="l">
              <a:spcBef>
                <a:spcPts val="1200"/>
              </a:spcBef>
              <a:spcAft>
                <a:spcPts val="0"/>
              </a:spcAft>
              <a:buNone/>
            </a:pPr>
            <a:r>
              <a:rPr b="1" lang="en" sz="1700">
                <a:solidFill>
                  <a:schemeClr val="dk1"/>
                </a:solidFill>
              </a:rPr>
              <a:t>Main features:</a:t>
            </a:r>
            <a:endParaRPr b="1" sz="1700">
              <a:solidFill>
                <a:schemeClr val="dk1"/>
              </a:solidFill>
            </a:endParaRPr>
          </a:p>
          <a:p>
            <a:pPr indent="-336550" lvl="0" marL="457200" rtl="0" algn="l">
              <a:spcBef>
                <a:spcPts val="0"/>
              </a:spcBef>
              <a:spcAft>
                <a:spcPts val="0"/>
              </a:spcAft>
              <a:buClr>
                <a:schemeClr val="dk1"/>
              </a:buClr>
              <a:buSzPts val="1700"/>
              <a:buChar char="●"/>
            </a:pPr>
            <a:r>
              <a:rPr lang="en" sz="1700">
                <a:solidFill>
                  <a:schemeClr val="dk1"/>
                </a:solidFill>
              </a:rPr>
              <a:t>Mid-size to large companies can use it </a:t>
            </a:r>
            <a:endParaRPr sz="1700">
              <a:solidFill>
                <a:schemeClr val="dk1"/>
              </a:solidFill>
            </a:endParaRPr>
          </a:p>
          <a:p>
            <a:pPr indent="-336550" lvl="0" marL="457200" rtl="0" algn="l">
              <a:spcBef>
                <a:spcPts val="0"/>
              </a:spcBef>
              <a:spcAft>
                <a:spcPts val="0"/>
              </a:spcAft>
              <a:buClr>
                <a:schemeClr val="dk1"/>
              </a:buClr>
              <a:buSzPts val="1700"/>
              <a:buChar char="●"/>
            </a:pPr>
            <a:r>
              <a:rPr lang="en" sz="1700">
                <a:solidFill>
                  <a:schemeClr val="dk1"/>
                </a:solidFill>
              </a:rPr>
              <a:t>Industry-leading performance: fast data retrieval which includes large amount of disk space</a:t>
            </a:r>
            <a:endParaRPr sz="1700">
              <a:solidFill>
                <a:schemeClr val="dk1"/>
              </a:solidFill>
            </a:endParaRPr>
          </a:p>
          <a:p>
            <a:pPr indent="-336550" lvl="0" marL="457200" rtl="0" algn="l">
              <a:spcBef>
                <a:spcPts val="0"/>
              </a:spcBef>
              <a:spcAft>
                <a:spcPts val="0"/>
              </a:spcAft>
              <a:buClr>
                <a:schemeClr val="dk1"/>
              </a:buClr>
              <a:buSzPts val="1700"/>
              <a:buChar char="●"/>
            </a:pPr>
            <a:r>
              <a:rPr lang="en" sz="1700">
                <a:solidFill>
                  <a:schemeClr val="dk1"/>
                </a:solidFill>
              </a:rPr>
              <a:t>Advanced protection</a:t>
            </a:r>
            <a:endParaRPr sz="1700">
              <a:solidFill>
                <a:schemeClr val="dk1"/>
              </a:solidFill>
            </a:endParaRPr>
          </a:p>
          <a:p>
            <a:pPr indent="-336550" lvl="0" marL="457200" rtl="0" algn="l">
              <a:spcBef>
                <a:spcPts val="0"/>
              </a:spcBef>
              <a:spcAft>
                <a:spcPts val="0"/>
              </a:spcAft>
              <a:buClr>
                <a:schemeClr val="dk1"/>
              </a:buClr>
              <a:buSzPts val="1700"/>
              <a:buChar char="●"/>
            </a:pPr>
            <a:r>
              <a:rPr lang="en" sz="1700">
                <a:solidFill>
                  <a:schemeClr val="dk1"/>
                </a:solidFill>
              </a:rPr>
              <a:t>Like MySQL, IBM database is available 24/7 with auto resynchronization</a:t>
            </a:r>
            <a:endParaRPr sz="1700">
              <a:solidFill>
                <a:schemeClr val="dk1"/>
              </a:solidFill>
            </a:endParaRPr>
          </a:p>
          <a:p>
            <a:pPr indent="-336550" lvl="0" marL="457200" rtl="0" algn="l">
              <a:spcBef>
                <a:spcPts val="0"/>
              </a:spcBef>
              <a:spcAft>
                <a:spcPts val="0"/>
              </a:spcAft>
              <a:buClr>
                <a:schemeClr val="dk1"/>
              </a:buClr>
              <a:buSzPts val="1700"/>
              <a:buChar char="●"/>
            </a:pPr>
            <a:r>
              <a:rPr lang="en" sz="1700">
                <a:solidFill>
                  <a:schemeClr val="dk1"/>
                </a:solidFill>
              </a:rPr>
              <a:t>Works with multiple data types and languages: NoSQL, Ruby, Python, Perl and more for building robust apps</a:t>
            </a:r>
            <a:endParaRPr sz="1700">
              <a:solidFill>
                <a:schemeClr val="dk1"/>
              </a:solidFill>
            </a:endParaRPr>
          </a:p>
          <a:p>
            <a:pPr indent="-336550" lvl="0" marL="457200" rtl="0" algn="l">
              <a:spcBef>
                <a:spcPts val="0"/>
              </a:spcBef>
              <a:spcAft>
                <a:spcPts val="0"/>
              </a:spcAft>
              <a:buClr>
                <a:schemeClr val="dk1"/>
              </a:buClr>
              <a:buSzPts val="1700"/>
              <a:buChar char="●"/>
            </a:pPr>
            <a:r>
              <a:rPr lang="en" sz="1700">
                <a:solidFill>
                  <a:schemeClr val="dk1"/>
                </a:solidFill>
              </a:rPr>
              <a:t>Automatic setup, optimization, diagnostics and management of the database environment</a:t>
            </a:r>
            <a:endParaRPr sz="1700">
              <a:solidFill>
                <a:schemeClr val="dk1"/>
              </a:solidFill>
            </a:endParaRPr>
          </a:p>
          <a:p>
            <a:pPr indent="-336550" lvl="0" marL="457200" rtl="0" algn="l">
              <a:spcBef>
                <a:spcPts val="0"/>
              </a:spcBef>
              <a:spcAft>
                <a:spcPts val="0"/>
              </a:spcAft>
              <a:buClr>
                <a:schemeClr val="dk1"/>
              </a:buClr>
              <a:buSzPts val="1700"/>
              <a:buChar char="●"/>
            </a:pPr>
            <a:r>
              <a:rPr lang="en" sz="1700">
                <a:solidFill>
                  <a:schemeClr val="dk1"/>
                </a:solidFill>
              </a:rPr>
              <a:t>multi cloud and hybrid environments to reduce storage costs</a:t>
            </a:r>
            <a:endParaRPr sz="1700">
              <a:solidFill>
                <a:schemeClr val="dk1"/>
              </a:solidFill>
            </a:endParaRPr>
          </a:p>
          <a:p>
            <a:pPr indent="0" lvl="0" marL="0" rtl="0" algn="l">
              <a:spcBef>
                <a:spcPts val="0"/>
              </a:spcBef>
              <a:spcAft>
                <a:spcPts val="0"/>
              </a:spcAft>
              <a:buNone/>
            </a:pPr>
            <a:r>
              <a:rPr b="1" lang="en" sz="1700">
                <a:solidFill>
                  <a:schemeClr val="dk1"/>
                </a:solidFill>
              </a:rPr>
              <a:t>Who Use IBM Db2?</a:t>
            </a:r>
            <a:endParaRPr b="1" sz="1700">
              <a:solidFill>
                <a:schemeClr val="dk1"/>
              </a:solidFill>
            </a:endParaRPr>
          </a:p>
          <a:p>
            <a:pPr indent="-336550" lvl="0" marL="457200" rtl="0" algn="l">
              <a:spcBef>
                <a:spcPts val="0"/>
              </a:spcBef>
              <a:spcAft>
                <a:spcPts val="0"/>
              </a:spcAft>
              <a:buClr>
                <a:schemeClr val="dk1"/>
              </a:buClr>
              <a:buSzPts val="1700"/>
              <a:buChar char="●"/>
            </a:pPr>
            <a:r>
              <a:rPr lang="en" sz="1700">
                <a:solidFill>
                  <a:schemeClr val="dk1"/>
                </a:solidFill>
              </a:rPr>
              <a:t>Many companies use IBM Db2 which includes: </a:t>
            </a:r>
            <a:r>
              <a:rPr lang="en" sz="1700">
                <a:solidFill>
                  <a:srgbClr val="202124"/>
                </a:solidFill>
                <a:highlight>
                  <a:srgbClr val="FFFFFF"/>
                </a:highlight>
              </a:rPr>
              <a:t>Audi, Swiss Re, and Nike. </a:t>
            </a:r>
            <a:endParaRPr sz="1700">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126122950e5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126122950e5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800">
                <a:solidFill>
                  <a:schemeClr val="dk1"/>
                </a:solidFill>
                <a:latin typeface="Roboto"/>
                <a:ea typeface="Roboto"/>
                <a:cs typeface="Roboto"/>
                <a:sym typeface="Roboto"/>
              </a:rPr>
              <a:t>Oracle vs IBM Db2</a:t>
            </a:r>
            <a:endParaRPr sz="1800">
              <a:solidFill>
                <a:schemeClr val="dk1"/>
              </a:solidFill>
              <a:latin typeface="Roboto"/>
              <a:ea typeface="Roboto"/>
              <a:cs typeface="Roboto"/>
              <a:sym typeface="Roboto"/>
            </a:endParaRPr>
          </a:p>
          <a:p>
            <a:pPr indent="-342900" lvl="0" marL="457200" rtl="0" algn="l">
              <a:lnSpc>
                <a:spcPct val="115000"/>
              </a:lnSpc>
              <a:spcBef>
                <a:spcPts val="1200"/>
              </a:spcBef>
              <a:spcAft>
                <a:spcPts val="0"/>
              </a:spcAft>
              <a:buClr>
                <a:schemeClr val="dk1"/>
              </a:buClr>
              <a:buSzPts val="1800"/>
              <a:buFont typeface="Roboto"/>
              <a:buChar char="●"/>
            </a:pPr>
            <a:r>
              <a:rPr lang="en" sz="1800">
                <a:solidFill>
                  <a:schemeClr val="dk1"/>
                </a:solidFill>
                <a:latin typeface="Roboto"/>
                <a:ea typeface="Roboto"/>
                <a:cs typeface="Roboto"/>
                <a:sym typeface="Roboto"/>
              </a:rPr>
              <a:t>Oracle supports Mac OS X while IBM does not support</a:t>
            </a:r>
            <a:endParaRPr sz="1800">
              <a:solidFill>
                <a:schemeClr val="dk1"/>
              </a:solidFill>
              <a:latin typeface="Roboto"/>
              <a:ea typeface="Roboto"/>
              <a:cs typeface="Roboto"/>
              <a:sym typeface="Roboto"/>
            </a:endParaRPr>
          </a:p>
          <a:p>
            <a:pPr indent="-342900" lvl="0" marL="457200" rtl="0" algn="l">
              <a:lnSpc>
                <a:spcPct val="115000"/>
              </a:lnSpc>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Oracle Database supports Eiffel, Erlang, Groovy, Haskell, JavaScript but IBM does not support it</a:t>
            </a:r>
            <a:endParaRPr sz="1800">
              <a:solidFill>
                <a:schemeClr val="dk1"/>
              </a:solidFill>
              <a:latin typeface="Roboto"/>
              <a:ea typeface="Roboto"/>
              <a:cs typeface="Roboto"/>
              <a:sym typeface="Roboto"/>
            </a:endParaRPr>
          </a:p>
          <a:p>
            <a:pPr indent="-342900" lvl="0" marL="457200" rtl="0" algn="l">
              <a:lnSpc>
                <a:spcPct val="115000"/>
              </a:lnSpc>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IBM provides Db2 when you support iSeries while you have to pay for it separately when purchasing Oracle </a:t>
            </a:r>
            <a:endParaRPr sz="1800">
              <a:solidFill>
                <a:schemeClr val="dk1"/>
              </a:solidFill>
              <a:latin typeface="Roboto"/>
              <a:ea typeface="Roboto"/>
              <a:cs typeface="Roboto"/>
              <a:sym typeface="Roboto"/>
            </a:endParaRPr>
          </a:p>
          <a:p>
            <a:pPr indent="-342900" lvl="0" marL="457200" rtl="0" algn="l">
              <a:lnSpc>
                <a:spcPct val="115000"/>
              </a:lnSpc>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Both were released around the same time which was early 1980s</a:t>
            </a:r>
            <a:endParaRPr sz="1800">
              <a:solidFill>
                <a:schemeClr val="dk1"/>
              </a:solidFill>
              <a:latin typeface="Roboto"/>
              <a:ea typeface="Roboto"/>
              <a:cs typeface="Roboto"/>
              <a:sym typeface="Roboto"/>
            </a:endParaRPr>
          </a:p>
          <a:p>
            <a:pPr indent="-342900" lvl="0" marL="457200" rtl="0" algn="l">
              <a:lnSpc>
                <a:spcPct val="115000"/>
              </a:lnSpc>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Both of them support implemented in C and C++ and support similar server operating systems (AIX, HP-UX, Linux, Solaris, Windows, z/OS)</a:t>
            </a:r>
            <a:endParaRPr sz="1800">
              <a:solidFill>
                <a:schemeClr val="dk1"/>
              </a:solidFill>
              <a:latin typeface="Roboto"/>
              <a:ea typeface="Roboto"/>
              <a:cs typeface="Roboto"/>
              <a:sym typeface="Roboto"/>
            </a:endParaRPr>
          </a:p>
          <a:p>
            <a:pPr indent="-342900" lvl="0" marL="457200" rtl="0" algn="l">
              <a:lnSpc>
                <a:spcPct val="115000"/>
              </a:lnSpc>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Db2 is well known for reliability and scalability, while Oracle Database is more known for its wide range of applications, tools, skills, and partners available</a:t>
            </a:r>
            <a:endParaRPr sz="1800">
              <a:solidFill>
                <a:schemeClr val="dk1"/>
              </a:solidFill>
              <a:latin typeface="Roboto"/>
              <a:ea typeface="Roboto"/>
              <a:cs typeface="Roboto"/>
              <a:sym typeface="Roboto"/>
            </a:endParaRPr>
          </a:p>
          <a:p>
            <a:pPr indent="-342900" lvl="0" marL="457200" rtl="0" algn="l">
              <a:lnSpc>
                <a:spcPct val="115000"/>
              </a:lnSpc>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Both are very stable databases, with large amounts of documentation and good support</a:t>
            </a:r>
            <a:endParaRPr sz="1800">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rPr lang="en" sz="1800">
                <a:solidFill>
                  <a:schemeClr val="dk1"/>
                </a:solidFill>
                <a:latin typeface="Roboto"/>
                <a:ea typeface="Roboto"/>
                <a:cs typeface="Roboto"/>
                <a:sym typeface="Roboto"/>
              </a:rPr>
              <a:t>Oracle vs MySQL</a:t>
            </a:r>
            <a:endParaRPr sz="1800">
              <a:solidFill>
                <a:schemeClr val="dk1"/>
              </a:solidFill>
              <a:latin typeface="Roboto"/>
              <a:ea typeface="Roboto"/>
              <a:cs typeface="Roboto"/>
              <a:sym typeface="Roboto"/>
            </a:endParaRPr>
          </a:p>
          <a:p>
            <a:pPr indent="-333375" lvl="0" marL="457200" rtl="0" algn="l">
              <a:lnSpc>
                <a:spcPct val="115000"/>
              </a:lnSpc>
              <a:spcBef>
                <a:spcPts val="1200"/>
              </a:spcBef>
              <a:spcAft>
                <a:spcPts val="0"/>
              </a:spcAft>
              <a:buClr>
                <a:schemeClr val="dk1"/>
              </a:buClr>
              <a:buSzPts val="1650"/>
              <a:buFont typeface="Roboto"/>
              <a:buChar char="●"/>
            </a:pPr>
            <a:r>
              <a:rPr lang="en" sz="1650">
                <a:solidFill>
                  <a:schemeClr val="dk1"/>
                </a:solidFill>
                <a:latin typeface="Roboto"/>
                <a:ea typeface="Roboto"/>
                <a:cs typeface="Roboto"/>
                <a:sym typeface="Roboto"/>
              </a:rPr>
              <a:t>MySQL provides a GPL software license, while Oracle doesn’t</a:t>
            </a:r>
            <a:endParaRPr sz="1650">
              <a:solidFill>
                <a:schemeClr val="dk1"/>
              </a:solidFill>
              <a:latin typeface="Roboto"/>
              <a:ea typeface="Roboto"/>
              <a:cs typeface="Roboto"/>
              <a:sym typeface="Roboto"/>
            </a:endParaRPr>
          </a:p>
          <a:p>
            <a:pPr indent="-333375" lvl="0" marL="457200" rtl="0" algn="l">
              <a:lnSpc>
                <a:spcPct val="115000"/>
              </a:lnSpc>
              <a:spcBef>
                <a:spcPts val="0"/>
              </a:spcBef>
              <a:spcAft>
                <a:spcPts val="0"/>
              </a:spcAft>
              <a:buClr>
                <a:schemeClr val="dk1"/>
              </a:buClr>
              <a:buSzPts val="1650"/>
              <a:buFont typeface="Roboto"/>
              <a:buChar char="●"/>
            </a:pPr>
            <a:r>
              <a:rPr lang="en" sz="1650">
                <a:solidFill>
                  <a:schemeClr val="dk1"/>
                </a:solidFill>
                <a:latin typeface="Roboto"/>
                <a:ea typeface="Roboto"/>
                <a:cs typeface="Roboto"/>
                <a:sym typeface="Roboto"/>
              </a:rPr>
              <a:t>MySQL is compatible with Symbian, BSD, and AmigaOS</a:t>
            </a:r>
            <a:endParaRPr sz="1650">
              <a:solidFill>
                <a:schemeClr val="dk1"/>
              </a:solidFill>
              <a:latin typeface="Roboto"/>
              <a:ea typeface="Roboto"/>
              <a:cs typeface="Roboto"/>
              <a:sym typeface="Roboto"/>
            </a:endParaRPr>
          </a:p>
          <a:p>
            <a:pPr indent="-333375" lvl="0" marL="457200" rtl="0" algn="l">
              <a:lnSpc>
                <a:spcPct val="115000"/>
              </a:lnSpc>
              <a:spcBef>
                <a:spcPts val="0"/>
              </a:spcBef>
              <a:spcAft>
                <a:spcPts val="0"/>
              </a:spcAft>
              <a:buClr>
                <a:schemeClr val="dk1"/>
              </a:buClr>
              <a:buSzPts val="1650"/>
              <a:buFont typeface="Roboto"/>
              <a:buChar char="●"/>
            </a:pPr>
            <a:r>
              <a:rPr lang="en" sz="1650">
                <a:solidFill>
                  <a:schemeClr val="dk1"/>
                </a:solidFill>
                <a:latin typeface="Roboto"/>
                <a:ea typeface="Roboto"/>
                <a:cs typeface="Roboto"/>
                <a:sym typeface="Roboto"/>
              </a:rPr>
              <a:t>Oracle supports distributed databases while MySQL doesn’t</a:t>
            </a:r>
            <a:endParaRPr sz="1650">
              <a:solidFill>
                <a:schemeClr val="dk1"/>
              </a:solidFill>
              <a:latin typeface="Roboto"/>
              <a:ea typeface="Roboto"/>
              <a:cs typeface="Roboto"/>
              <a:sym typeface="Roboto"/>
            </a:endParaRPr>
          </a:p>
          <a:p>
            <a:pPr indent="-333375" lvl="0" marL="457200" rtl="0" algn="l">
              <a:lnSpc>
                <a:spcPct val="115000"/>
              </a:lnSpc>
              <a:spcBef>
                <a:spcPts val="0"/>
              </a:spcBef>
              <a:spcAft>
                <a:spcPts val="0"/>
              </a:spcAft>
              <a:buClr>
                <a:schemeClr val="dk1"/>
              </a:buClr>
              <a:buSzPts val="1650"/>
              <a:buFont typeface="Roboto"/>
              <a:buChar char="●"/>
            </a:pPr>
            <a:r>
              <a:rPr lang="en" sz="1650">
                <a:solidFill>
                  <a:schemeClr val="dk1"/>
                </a:solidFill>
                <a:latin typeface="Roboto"/>
                <a:ea typeface="Roboto"/>
                <a:cs typeface="Roboto"/>
                <a:sym typeface="Roboto"/>
              </a:rPr>
              <a:t>MySQL is free while Oracle requires a licensing agreement</a:t>
            </a:r>
            <a:endParaRPr sz="1650">
              <a:solidFill>
                <a:schemeClr val="dk1"/>
              </a:solidFill>
              <a:latin typeface="Roboto"/>
              <a:ea typeface="Roboto"/>
              <a:cs typeface="Roboto"/>
              <a:sym typeface="Roboto"/>
            </a:endParaRPr>
          </a:p>
          <a:p>
            <a:pPr indent="-333375" lvl="0" marL="457200" rtl="0" algn="l">
              <a:lnSpc>
                <a:spcPct val="115000"/>
              </a:lnSpc>
              <a:spcBef>
                <a:spcPts val="0"/>
              </a:spcBef>
              <a:spcAft>
                <a:spcPts val="0"/>
              </a:spcAft>
              <a:buClr>
                <a:schemeClr val="dk1"/>
              </a:buClr>
              <a:buSzPts val="1650"/>
              <a:buFont typeface="Roboto"/>
              <a:buChar char="●"/>
            </a:pPr>
            <a:r>
              <a:rPr lang="en" sz="1650">
                <a:solidFill>
                  <a:schemeClr val="dk1"/>
                </a:solidFill>
                <a:latin typeface="Roboto"/>
                <a:ea typeface="Roboto"/>
                <a:cs typeface="Roboto"/>
                <a:sym typeface="Roboto"/>
              </a:rPr>
              <a:t>Oracle is compatible with Linux, UNIX, Windows, Mac OS X and z/OS. MySQL is compatible with all of those plus Symbian, BSD, and AmigaOS. </a:t>
            </a:r>
            <a:endParaRPr sz="1650">
              <a:solidFill>
                <a:schemeClr val="dk1"/>
              </a:solidFill>
              <a:latin typeface="Roboto"/>
              <a:ea typeface="Roboto"/>
              <a:cs typeface="Roboto"/>
              <a:sym typeface="Roboto"/>
            </a:endParaRPr>
          </a:p>
          <a:p>
            <a:pPr indent="-333375" lvl="0" marL="457200" rtl="0" algn="l">
              <a:lnSpc>
                <a:spcPct val="115000"/>
              </a:lnSpc>
              <a:spcBef>
                <a:spcPts val="0"/>
              </a:spcBef>
              <a:spcAft>
                <a:spcPts val="0"/>
              </a:spcAft>
              <a:buClr>
                <a:schemeClr val="dk1"/>
              </a:buClr>
              <a:buSzPts val="1650"/>
              <a:buFont typeface="Roboto"/>
              <a:buChar char="●"/>
            </a:pPr>
            <a:r>
              <a:rPr lang="en" sz="1650">
                <a:solidFill>
                  <a:schemeClr val="dk1"/>
                </a:solidFill>
                <a:latin typeface="Roboto"/>
                <a:ea typeface="Roboto"/>
                <a:cs typeface="Roboto"/>
                <a:sym typeface="Roboto"/>
              </a:rPr>
              <a:t>Oracle is better for enterprise deployments, while MySQL is suited for small to medium scale.</a:t>
            </a:r>
            <a:endParaRPr sz="1650">
              <a:solidFill>
                <a:schemeClr val="dk1"/>
              </a:solidFill>
              <a:latin typeface="Roboto"/>
              <a:ea typeface="Roboto"/>
              <a:cs typeface="Roboto"/>
              <a:sym typeface="Roboto"/>
            </a:endParaRPr>
          </a:p>
          <a:p>
            <a:pPr indent="-333375" lvl="0" marL="457200" rtl="0" algn="l">
              <a:lnSpc>
                <a:spcPct val="115000"/>
              </a:lnSpc>
              <a:spcBef>
                <a:spcPts val="0"/>
              </a:spcBef>
              <a:spcAft>
                <a:spcPts val="0"/>
              </a:spcAft>
              <a:buClr>
                <a:schemeClr val="dk1"/>
              </a:buClr>
              <a:buSzPts val="1650"/>
              <a:buFont typeface="Roboto"/>
              <a:buChar char="●"/>
            </a:pPr>
            <a:r>
              <a:rPr lang="en" sz="1650">
                <a:solidFill>
                  <a:schemeClr val="dk1"/>
                </a:solidFill>
                <a:latin typeface="Roboto"/>
                <a:ea typeface="Roboto"/>
                <a:cs typeface="Roboto"/>
                <a:sym typeface="Roboto"/>
              </a:rPr>
              <a:t>MySQL supports full-text and hash indexing only. Oracle uses more indexes including Bitmap, function-based, Partitioned, and so forth.</a:t>
            </a:r>
            <a:endParaRPr sz="1650">
              <a:solidFill>
                <a:schemeClr val="dk1"/>
              </a:solidFill>
              <a:latin typeface="Roboto"/>
              <a:ea typeface="Roboto"/>
              <a:cs typeface="Roboto"/>
              <a:sym typeface="Roboto"/>
            </a:endParaRPr>
          </a:p>
          <a:p>
            <a:pPr indent="0" lvl="0" marL="0" rtl="0" algn="l">
              <a:spcBef>
                <a:spcPts val="1200"/>
              </a:spcBef>
              <a:spcAft>
                <a:spcPts val="1100"/>
              </a:spcAft>
              <a:buNone/>
            </a:pPr>
            <a:r>
              <a:t/>
            </a:r>
            <a:endParaRPr sz="1300">
              <a:solidFill>
                <a:schemeClr val="dk1"/>
              </a:solidFill>
              <a:highlight>
                <a:srgbClr val="FFFFFF"/>
              </a:highlight>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126122950e5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126122950e5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Each database has advantages and disadvantages making the right database a case by case scenario</a:t>
            </a:r>
            <a:endParaRPr sz="1800">
              <a:solidFill>
                <a:schemeClr val="dk1"/>
              </a:solidFill>
              <a:latin typeface="Roboto"/>
              <a:ea typeface="Roboto"/>
              <a:cs typeface="Roboto"/>
              <a:sym typeface="Roboto"/>
            </a:endParaRPr>
          </a:p>
          <a:p>
            <a:pPr indent="-342900" lvl="0" marL="457200" rtl="0" algn="l">
              <a:lnSpc>
                <a:spcPct val="115000"/>
              </a:lnSpc>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The database needed for the healthcare system is one that can handle large quantities of data, have quick access to the data in the database, and the data of the database must be secure and reliable </a:t>
            </a:r>
            <a:endParaRPr sz="1800">
              <a:solidFill>
                <a:schemeClr val="dk1"/>
              </a:solidFill>
              <a:latin typeface="Roboto"/>
              <a:ea typeface="Roboto"/>
              <a:cs typeface="Roboto"/>
              <a:sym typeface="Roboto"/>
            </a:endParaRPr>
          </a:p>
          <a:p>
            <a:pPr indent="-342900" lvl="0" marL="457200" rtl="0" algn="l">
              <a:lnSpc>
                <a:spcPct val="115000"/>
              </a:lnSpc>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Cost plays a role in which database will be implemented, because this is a state funded project we need to balance the cost of the database, and the performance it provides</a:t>
            </a:r>
            <a:endParaRPr sz="1800">
              <a:solidFill>
                <a:schemeClr val="dk1"/>
              </a:solidFill>
              <a:latin typeface="Roboto"/>
              <a:ea typeface="Roboto"/>
              <a:cs typeface="Roboto"/>
              <a:sym typeface="Roboto"/>
            </a:endParaRPr>
          </a:p>
          <a:p>
            <a:pPr indent="-342900" lvl="0" marL="457200" rtl="0" algn="l">
              <a:lnSpc>
                <a:spcPct val="115000"/>
              </a:lnSpc>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MySQL is designed for new users to get familiar with and design limited databases, Oracle Database is a more professional and robust database for larger projects, and IBM Db2 is designed for databases involving artificial intelligence</a:t>
            </a:r>
            <a:endParaRPr sz="1800">
              <a:solidFill>
                <a:schemeClr val="dk1"/>
              </a:solidFill>
              <a:latin typeface="Roboto"/>
              <a:ea typeface="Roboto"/>
              <a:cs typeface="Roboto"/>
              <a:sym typeface="Roboto"/>
            </a:endParaRPr>
          </a:p>
          <a:p>
            <a:pPr indent="0" lvl="0" marL="0" rtl="0" algn="l">
              <a:spcBef>
                <a:spcPts val="120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126122950e5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126122950e5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Char char="●"/>
            </a:pPr>
            <a:r>
              <a:rPr lang="en" sz="1400">
                <a:solidFill>
                  <a:schemeClr val="dk1"/>
                </a:solidFill>
              </a:rPr>
              <a:t>For the state of North Carolina to provide a well designed system that addresses all areas surrounding keeping citizens healthy, their best choice will be Oracle Database</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Oracle gets a bad rap for being over priced, however when you look at the structure of their database it is a worthy investment</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Oracle Database satisfies all the needs of the state by providing a large database, in which data can be easily and quickly accessed</a:t>
            </a:r>
            <a:endParaRPr sz="1400">
              <a:solidFill>
                <a:schemeClr val="dk1"/>
              </a:solidFill>
            </a:endParaRPr>
          </a:p>
          <a:p>
            <a:pPr indent="-317500" lvl="0" marL="457200" rtl="0" algn="l">
              <a:spcBef>
                <a:spcPts val="0"/>
              </a:spcBef>
              <a:spcAft>
                <a:spcPts val="0"/>
              </a:spcAft>
              <a:buClr>
                <a:schemeClr val="dk1"/>
              </a:buClr>
              <a:buSzPts val="1400"/>
              <a:buChar char="●"/>
            </a:pPr>
            <a:r>
              <a:rPr lang="en" sz="1400">
                <a:solidFill>
                  <a:schemeClr val="dk1"/>
                </a:solidFill>
              </a:rPr>
              <a:t>The Flashback technology that Oracle databases have is a key selling point in our case because if there is a loss of information at any point in the database users would not be able to access vital information about their health</a:t>
            </a:r>
            <a:endParaRPr sz="1400">
              <a:solidFill>
                <a:schemeClr val="dk1"/>
              </a:solidFill>
            </a:endParaRPr>
          </a:p>
          <a:p>
            <a:pPr indent="0" lvl="0" marL="45720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f3e89e19a5_0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f3e89e19a5_0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lt1"/>
              </a:buClr>
              <a:buSzPts val="1800"/>
              <a:buFont typeface="Roboto"/>
              <a:buChar char="●"/>
            </a:pPr>
            <a:r>
              <a:rPr lang="en" sz="1800" u="sng">
                <a:solidFill>
                  <a:srgbClr val="8BC34A"/>
                </a:solidFill>
                <a:latin typeface="Roboto"/>
                <a:ea typeface="Roboto"/>
                <a:cs typeface="Roboto"/>
                <a:sym typeface="Roboto"/>
                <a:hlinkClick r:id="rId2">
                  <a:extLst>
                    <a:ext uri="{A12FA001-AC4F-418D-AE19-62706E023703}">
                      <ahyp:hlinkClr val="tx"/>
                    </a:ext>
                  </a:extLst>
                </a:hlinkClick>
              </a:rPr>
              <a:t>https://docs.oracle.com/cd/B19306_01/server.102/b14220/intro.htm</a:t>
            </a:r>
            <a:endParaRPr sz="1800">
              <a:solidFill>
                <a:schemeClr val="lt1"/>
              </a:solidFill>
              <a:latin typeface="Roboto"/>
              <a:ea typeface="Roboto"/>
              <a:cs typeface="Roboto"/>
              <a:sym typeface="Roboto"/>
            </a:endParaRPr>
          </a:p>
          <a:p>
            <a:pPr indent="-342900" lvl="0" marL="457200" rtl="0" algn="l">
              <a:lnSpc>
                <a:spcPct val="115000"/>
              </a:lnSpc>
              <a:spcBef>
                <a:spcPts val="0"/>
              </a:spcBef>
              <a:spcAft>
                <a:spcPts val="0"/>
              </a:spcAft>
              <a:buClr>
                <a:schemeClr val="lt1"/>
              </a:buClr>
              <a:buSzPts val="1800"/>
              <a:buFont typeface="Roboto"/>
              <a:buChar char="●"/>
            </a:pPr>
            <a:r>
              <a:rPr lang="en" sz="1800" u="sng">
                <a:solidFill>
                  <a:srgbClr val="8BC34A"/>
                </a:solidFill>
                <a:latin typeface="Roboto"/>
                <a:ea typeface="Roboto"/>
                <a:cs typeface="Roboto"/>
                <a:sym typeface="Roboto"/>
                <a:hlinkClick r:id="rId3">
                  <a:extLst>
                    <a:ext uri="{A12FA001-AC4F-418D-AE19-62706E023703}">
                      <ahyp:hlinkClr val="tx"/>
                    </a:ext>
                  </a:extLst>
                </a:hlinkClick>
              </a:rPr>
              <a:t>https://www.cherryroad.com/2021/10/22/oracle-database-cloud/</a:t>
            </a:r>
            <a:endParaRPr sz="1800">
              <a:solidFill>
                <a:schemeClr val="lt1"/>
              </a:solidFill>
              <a:latin typeface="Roboto"/>
              <a:ea typeface="Roboto"/>
              <a:cs typeface="Roboto"/>
              <a:sym typeface="Roboto"/>
            </a:endParaRPr>
          </a:p>
          <a:p>
            <a:pPr indent="-342900" lvl="0" marL="457200" rtl="0" algn="l">
              <a:lnSpc>
                <a:spcPct val="115000"/>
              </a:lnSpc>
              <a:spcBef>
                <a:spcPts val="0"/>
              </a:spcBef>
              <a:spcAft>
                <a:spcPts val="0"/>
              </a:spcAft>
              <a:buClr>
                <a:schemeClr val="lt1"/>
              </a:buClr>
              <a:buSzPts val="1800"/>
              <a:buFont typeface="Roboto"/>
              <a:buChar char="●"/>
            </a:pPr>
            <a:r>
              <a:rPr lang="en" sz="1800" u="sng">
                <a:solidFill>
                  <a:srgbClr val="8BC34A"/>
                </a:solidFill>
                <a:latin typeface="Roboto"/>
                <a:ea typeface="Roboto"/>
                <a:cs typeface="Roboto"/>
                <a:sym typeface="Roboto"/>
                <a:hlinkClick r:id="rId4">
                  <a:extLst>
                    <a:ext uri="{A12FA001-AC4F-418D-AE19-62706E023703}">
                      <ahyp:hlinkClr val="tx"/>
                    </a:ext>
                  </a:extLst>
                </a:hlinkClick>
              </a:rPr>
              <a:t>https://www.javatpoint.com/db2-features#:~:text=DB2%20Server%20Features&amp;text=platform%20%2D%20linux%2C%20unix%2C%20and,xml%20backup%20compression%20homogeneous%20federations</a:t>
            </a:r>
            <a:r>
              <a:rPr lang="en" sz="1800">
                <a:solidFill>
                  <a:schemeClr val="lt1"/>
                </a:solidFill>
                <a:latin typeface="Roboto"/>
                <a:ea typeface="Roboto"/>
                <a:cs typeface="Roboto"/>
                <a:sym typeface="Roboto"/>
              </a:rPr>
              <a:t>.</a:t>
            </a:r>
            <a:endParaRPr sz="1800">
              <a:solidFill>
                <a:schemeClr val="lt1"/>
              </a:solidFill>
              <a:latin typeface="Roboto"/>
              <a:ea typeface="Roboto"/>
              <a:cs typeface="Roboto"/>
              <a:sym typeface="Roboto"/>
            </a:endParaRPr>
          </a:p>
          <a:p>
            <a:pPr indent="-342900" lvl="0" marL="457200" rtl="0" algn="l">
              <a:lnSpc>
                <a:spcPct val="115000"/>
              </a:lnSpc>
              <a:spcBef>
                <a:spcPts val="0"/>
              </a:spcBef>
              <a:spcAft>
                <a:spcPts val="0"/>
              </a:spcAft>
              <a:buClr>
                <a:schemeClr val="lt1"/>
              </a:buClr>
              <a:buSzPts val="1800"/>
              <a:buFont typeface="Roboto"/>
              <a:buChar char="●"/>
            </a:pPr>
            <a:r>
              <a:rPr lang="en" sz="1800" u="sng">
                <a:solidFill>
                  <a:srgbClr val="8BC34A"/>
                </a:solidFill>
                <a:latin typeface="Roboto"/>
                <a:ea typeface="Roboto"/>
                <a:cs typeface="Roboto"/>
                <a:sym typeface="Roboto"/>
                <a:hlinkClick r:id="rId5">
                  <a:extLst>
                    <a:ext uri="{A12FA001-AC4F-418D-AE19-62706E023703}">
                      <ahyp:hlinkClr val="tx"/>
                    </a:ext>
                  </a:extLst>
                </a:hlinkClick>
              </a:rPr>
              <a:t>https://www.ibm.com/be-en/products/db2-database</a:t>
            </a:r>
            <a:endParaRPr sz="1800">
              <a:solidFill>
                <a:schemeClr val="lt1"/>
              </a:solidFill>
              <a:latin typeface="Roboto"/>
              <a:ea typeface="Roboto"/>
              <a:cs typeface="Roboto"/>
              <a:sym typeface="Roboto"/>
            </a:endParaRPr>
          </a:p>
          <a:p>
            <a:pPr indent="-342900" lvl="0" marL="457200" rtl="0" algn="l">
              <a:lnSpc>
                <a:spcPct val="115000"/>
              </a:lnSpc>
              <a:spcBef>
                <a:spcPts val="0"/>
              </a:spcBef>
              <a:spcAft>
                <a:spcPts val="0"/>
              </a:spcAft>
              <a:buClr>
                <a:schemeClr val="lt1"/>
              </a:buClr>
              <a:buSzPts val="1800"/>
              <a:buFont typeface="Roboto"/>
              <a:buChar char="●"/>
            </a:pPr>
            <a:r>
              <a:rPr lang="en" sz="1800" u="sng">
                <a:solidFill>
                  <a:srgbClr val="8BC34A"/>
                </a:solidFill>
                <a:latin typeface="Roboto"/>
                <a:ea typeface="Roboto"/>
                <a:cs typeface="Roboto"/>
                <a:sym typeface="Roboto"/>
                <a:hlinkClick r:id="rId6">
                  <a:extLst>
                    <a:ext uri="{A12FA001-AC4F-418D-AE19-62706E023703}">
                      <ahyp:hlinkClr val="tx"/>
                    </a:ext>
                  </a:extLst>
                </a:hlinkClick>
              </a:rPr>
              <a:t>https://www.dnsstuff.com/db2-vs-oracle</a:t>
            </a:r>
            <a:endParaRPr sz="1800">
              <a:solidFill>
                <a:schemeClr val="lt1"/>
              </a:solidFill>
              <a:latin typeface="Roboto"/>
              <a:ea typeface="Roboto"/>
              <a:cs typeface="Roboto"/>
              <a:sym typeface="Roboto"/>
            </a:endParaRPr>
          </a:p>
          <a:p>
            <a:pPr indent="-342900" lvl="0" marL="457200" rtl="0" algn="l">
              <a:lnSpc>
                <a:spcPct val="115000"/>
              </a:lnSpc>
              <a:spcBef>
                <a:spcPts val="0"/>
              </a:spcBef>
              <a:spcAft>
                <a:spcPts val="0"/>
              </a:spcAft>
              <a:buClr>
                <a:schemeClr val="lt1"/>
              </a:buClr>
              <a:buSzPts val="1800"/>
              <a:buFont typeface="Roboto"/>
              <a:buChar char="●"/>
            </a:pPr>
            <a:r>
              <a:rPr lang="en" sz="1800" u="sng">
                <a:solidFill>
                  <a:srgbClr val="8BC34A"/>
                </a:solidFill>
                <a:latin typeface="Roboto"/>
                <a:ea typeface="Roboto"/>
                <a:cs typeface="Roboto"/>
                <a:sym typeface="Roboto"/>
                <a:hlinkClick r:id="rId7">
                  <a:extLst>
                    <a:ext uri="{A12FA001-AC4F-418D-AE19-62706E023703}">
                      <ahyp:hlinkClr val="tx"/>
                    </a:ext>
                  </a:extLst>
                </a:hlinkClick>
              </a:rPr>
              <a:t>https://www.integrate.io/blog/oracle-vs-mysql/#key</a:t>
            </a:r>
            <a:endParaRPr sz="1800">
              <a:solidFill>
                <a:schemeClr val="lt1"/>
              </a:solidFill>
              <a:latin typeface="Roboto"/>
              <a:ea typeface="Roboto"/>
              <a:cs typeface="Roboto"/>
              <a:sym typeface="Roboto"/>
            </a:endParaRPr>
          </a:p>
          <a:p>
            <a:pPr indent="-342900" lvl="0" marL="457200" rtl="0" algn="l">
              <a:lnSpc>
                <a:spcPct val="115000"/>
              </a:lnSpc>
              <a:spcBef>
                <a:spcPts val="0"/>
              </a:spcBef>
              <a:spcAft>
                <a:spcPts val="0"/>
              </a:spcAft>
              <a:buClr>
                <a:schemeClr val="lt1"/>
              </a:buClr>
              <a:buSzPts val="1800"/>
              <a:buFont typeface="Roboto"/>
              <a:buChar char="●"/>
            </a:pPr>
            <a:r>
              <a:t/>
            </a:r>
            <a:endParaRPr sz="1800">
              <a:solidFill>
                <a:schemeClr val="lt1"/>
              </a:solidFill>
              <a:latin typeface="Roboto"/>
              <a:ea typeface="Roboto"/>
              <a:cs typeface="Roboto"/>
              <a:sym typeface="Roboto"/>
            </a:endParaRPr>
          </a:p>
          <a:p>
            <a:pPr indent="0" lvl="0" marL="0" rtl="0" algn="l">
              <a:spcBef>
                <a:spcPts val="120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1524800" y="672606"/>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sp>
        <p:nvSpPr>
          <p:cNvPr id="11" name="Google Shape;11;p2"/>
          <p:cNvSpPr/>
          <p:nvPr/>
        </p:nvSpPr>
        <p:spPr>
          <a:xfrm rot="10800000">
            <a:off x="6537563" y="3342925"/>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cxnSp>
        <p:nvCxnSpPr>
          <p:cNvPr id="12" name="Google Shape;12;p2"/>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3" name="Google Shape;13;p2"/>
          <p:cNvSpPr txBox="1"/>
          <p:nvPr>
            <p:ph type="ctrTitle"/>
          </p:nvPr>
        </p:nvSpPr>
        <p:spPr>
          <a:xfrm>
            <a:off x="1680302" y="1188925"/>
            <a:ext cx="5783400" cy="1457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p:txBody>
      </p:sp>
      <p:sp>
        <p:nvSpPr>
          <p:cNvPr id="14" name="Google Shape;14;p2"/>
          <p:cNvSpPr txBox="1"/>
          <p:nvPr>
            <p:ph idx="1" type="subTitle"/>
          </p:nvPr>
        </p:nvSpPr>
        <p:spPr>
          <a:xfrm>
            <a:off x="1680302" y="3049450"/>
            <a:ext cx="5783400" cy="9090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p:txBody>
      </p:sp>
      <p:sp>
        <p:nvSpPr>
          <p:cNvPr id="15" name="Google Shape;15;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cxnSp>
        <p:nvCxnSpPr>
          <p:cNvPr id="17" name="Google Shape;17;p3"/>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8" name="Google Shape;18;p3"/>
          <p:cNvSpPr txBox="1"/>
          <p:nvPr>
            <p:ph type="title"/>
          </p:nvPr>
        </p:nvSpPr>
        <p:spPr>
          <a:xfrm>
            <a:off x="480750" y="1764950"/>
            <a:ext cx="8222100" cy="907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cxnSp>
        <p:nvCxnSpPr>
          <p:cNvPr id="21" name="Google Shape;21;p4"/>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2" name="Google Shape;22;p4"/>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3" name="Google Shape;23;p4"/>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cxnSp>
        <p:nvCxnSpPr>
          <p:cNvPr id="26" name="Google Shape;26;p5"/>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7" name="Google Shape;27;p5"/>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8" name="Google Shape;28;p5"/>
          <p:cNvSpPr txBox="1"/>
          <p:nvPr>
            <p:ph idx="1" type="body"/>
          </p:nvPr>
        </p:nvSpPr>
        <p:spPr>
          <a:xfrm>
            <a:off x="387900" y="1489825"/>
            <a:ext cx="3999900" cy="3078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756200" y="1489825"/>
            <a:ext cx="3999900" cy="3078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3" name="Google Shape;33;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 name="Shape 34"/>
        <p:cNvGrpSpPr/>
        <p:nvPr/>
      </p:nvGrpSpPr>
      <p:grpSpPr>
        <a:xfrm>
          <a:off x="0" y="0"/>
          <a:ext cx="0" cy="0"/>
          <a:chOff x="0" y="0"/>
          <a:chExt cx="0" cy="0"/>
        </a:xfrm>
      </p:grpSpPr>
      <p:cxnSp>
        <p:nvCxnSpPr>
          <p:cNvPr id="35" name="Google Shape;35;p7"/>
          <p:cNvCxnSpPr/>
          <p:nvPr/>
        </p:nvCxnSpPr>
        <p:spPr>
          <a:xfrm>
            <a:off x="489218" y="1412277"/>
            <a:ext cx="331500" cy="0"/>
          </a:xfrm>
          <a:prstGeom prst="straightConnector1">
            <a:avLst/>
          </a:prstGeom>
          <a:noFill/>
          <a:ln cap="flat" cmpd="sng" w="38100">
            <a:solidFill>
              <a:schemeClr val="accent4"/>
            </a:solidFill>
            <a:prstDash val="solid"/>
            <a:round/>
            <a:headEnd len="sm" w="sm" type="none"/>
            <a:tailEnd len="sm" w="sm" type="none"/>
          </a:ln>
        </p:spPr>
      </p:cxnSp>
      <p:sp>
        <p:nvSpPr>
          <p:cNvPr id="36" name="Google Shape;36;p7"/>
          <p:cNvSpPr txBox="1"/>
          <p:nvPr>
            <p:ph type="title"/>
          </p:nvPr>
        </p:nvSpPr>
        <p:spPr>
          <a:xfrm>
            <a:off x="3879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7" name="Google Shape;37;p7"/>
          <p:cNvSpPr txBox="1"/>
          <p:nvPr>
            <p:ph idx="1" type="body"/>
          </p:nvPr>
        </p:nvSpPr>
        <p:spPr>
          <a:xfrm>
            <a:off x="387900" y="1594025"/>
            <a:ext cx="2808000" cy="2681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8" name="Google Shape;3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9" name="Shape 39"/>
        <p:cNvGrpSpPr/>
        <p:nvPr/>
      </p:nvGrpSpPr>
      <p:grpSpPr>
        <a:xfrm>
          <a:off x="0" y="0"/>
          <a:ext cx="0" cy="0"/>
          <a:chOff x="0" y="0"/>
          <a:chExt cx="0" cy="0"/>
        </a:xfrm>
      </p:grpSpPr>
      <p:sp>
        <p:nvSpPr>
          <p:cNvPr id="40" name="Google Shape;40;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1" name="Google Shape;41;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2" name="Shape 42"/>
        <p:cNvGrpSpPr/>
        <p:nvPr/>
      </p:nvGrpSpPr>
      <p:grpSpPr>
        <a:xfrm>
          <a:off x="0" y="0"/>
          <a:ext cx="0" cy="0"/>
          <a:chOff x="0" y="0"/>
          <a:chExt cx="0" cy="0"/>
        </a:xfrm>
      </p:grpSpPr>
      <p:sp>
        <p:nvSpPr>
          <p:cNvPr id="43" name="Google Shape;43;p9"/>
          <p:cNvSpPr/>
          <p:nvPr/>
        </p:nvSpPr>
        <p:spPr>
          <a:xfrm>
            <a:off x="4572000" y="-7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 name="Google Shape;44;p9"/>
          <p:cNvCxnSpPr/>
          <p:nvPr/>
        </p:nvCxnSpPr>
        <p:spPr>
          <a:xfrm>
            <a:off x="5029675" y="4495503"/>
            <a:ext cx="540900" cy="0"/>
          </a:xfrm>
          <a:prstGeom prst="straightConnector1">
            <a:avLst/>
          </a:prstGeom>
          <a:noFill/>
          <a:ln cap="flat" cmpd="sng" w="38100">
            <a:solidFill>
              <a:schemeClr val="accent5"/>
            </a:solidFill>
            <a:prstDash val="solid"/>
            <a:round/>
            <a:headEnd len="sm" w="sm" type="none"/>
            <a:tailEnd len="sm" w="sm" type="none"/>
          </a:ln>
        </p:spPr>
      </p:cxnSp>
      <p:sp>
        <p:nvSpPr>
          <p:cNvPr id="45" name="Google Shape;45;p9"/>
          <p:cNvSpPr txBox="1"/>
          <p:nvPr>
            <p:ph type="title"/>
          </p:nvPr>
        </p:nvSpPr>
        <p:spPr>
          <a:xfrm>
            <a:off x="265500" y="1209075"/>
            <a:ext cx="4045200" cy="15063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6" name="Google Shape;46;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p:txBody>
      </p:sp>
      <p:sp>
        <p:nvSpPr>
          <p:cNvPr id="47" name="Google Shape;47;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8" name="Google Shape;4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p10"/>
          <p:cNvSpPr txBox="1"/>
          <p:nvPr>
            <p:ph idx="1" type="body"/>
          </p:nvPr>
        </p:nvSpPr>
        <p:spPr>
          <a:xfrm>
            <a:off x="319500" y="4233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p:txBody>
      </p:sp>
      <p:sp>
        <p:nvSpPr>
          <p:cNvPr id="51" name="Google Shape;51;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sp>
        <p:nvSpPr>
          <p:cNvPr id="53" name="Google Shape;53;p11"/>
          <p:cNvSpPr/>
          <p:nvPr/>
        </p:nvSpPr>
        <p:spPr>
          <a:xfrm>
            <a:off x="150" y="5076825"/>
            <a:ext cx="9143700" cy="6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1"/>
          <p:cNvSpPr txBox="1"/>
          <p:nvPr>
            <p:ph hasCustomPrompt="1" type="title"/>
          </p:nvPr>
        </p:nvSpPr>
        <p:spPr>
          <a:xfrm>
            <a:off x="387900" y="1152450"/>
            <a:ext cx="83682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5"/>
              </a:buClr>
              <a:buSzPts val="13000"/>
              <a:buNone/>
              <a:defRPr sz="13000">
                <a:solidFill>
                  <a:schemeClr val="accent5"/>
                </a:solidFill>
              </a:defRPr>
            </a:lvl1pPr>
            <a:lvl2pPr lvl="1" algn="ctr">
              <a:spcBef>
                <a:spcPts val="0"/>
              </a:spcBef>
              <a:spcAft>
                <a:spcPts val="0"/>
              </a:spcAft>
              <a:buClr>
                <a:schemeClr val="accent5"/>
              </a:buClr>
              <a:buSzPts val="13000"/>
              <a:buNone/>
              <a:defRPr sz="13000">
                <a:solidFill>
                  <a:schemeClr val="accent5"/>
                </a:solidFill>
              </a:defRPr>
            </a:lvl2pPr>
            <a:lvl3pPr lvl="2" algn="ctr">
              <a:spcBef>
                <a:spcPts val="0"/>
              </a:spcBef>
              <a:spcAft>
                <a:spcPts val="0"/>
              </a:spcAft>
              <a:buClr>
                <a:schemeClr val="accent5"/>
              </a:buClr>
              <a:buSzPts val="13000"/>
              <a:buNone/>
              <a:defRPr sz="13000">
                <a:solidFill>
                  <a:schemeClr val="accent5"/>
                </a:solidFill>
              </a:defRPr>
            </a:lvl3pPr>
            <a:lvl4pPr lvl="3" algn="ctr">
              <a:spcBef>
                <a:spcPts val="0"/>
              </a:spcBef>
              <a:spcAft>
                <a:spcPts val="0"/>
              </a:spcAft>
              <a:buClr>
                <a:schemeClr val="accent5"/>
              </a:buClr>
              <a:buSzPts val="13000"/>
              <a:buNone/>
              <a:defRPr sz="13000">
                <a:solidFill>
                  <a:schemeClr val="accent5"/>
                </a:solidFill>
              </a:defRPr>
            </a:lvl4pPr>
            <a:lvl5pPr lvl="4" algn="ctr">
              <a:spcBef>
                <a:spcPts val="0"/>
              </a:spcBef>
              <a:spcAft>
                <a:spcPts val="0"/>
              </a:spcAft>
              <a:buClr>
                <a:schemeClr val="accent5"/>
              </a:buClr>
              <a:buSzPts val="13000"/>
              <a:buNone/>
              <a:defRPr sz="13000">
                <a:solidFill>
                  <a:schemeClr val="accent5"/>
                </a:solidFill>
              </a:defRPr>
            </a:lvl5pPr>
            <a:lvl6pPr lvl="5" algn="ctr">
              <a:spcBef>
                <a:spcPts val="0"/>
              </a:spcBef>
              <a:spcAft>
                <a:spcPts val="0"/>
              </a:spcAft>
              <a:buClr>
                <a:schemeClr val="accent5"/>
              </a:buClr>
              <a:buSzPts val="13000"/>
              <a:buNone/>
              <a:defRPr sz="13000">
                <a:solidFill>
                  <a:schemeClr val="accent5"/>
                </a:solidFill>
              </a:defRPr>
            </a:lvl6pPr>
            <a:lvl7pPr lvl="6" algn="ctr">
              <a:spcBef>
                <a:spcPts val="0"/>
              </a:spcBef>
              <a:spcAft>
                <a:spcPts val="0"/>
              </a:spcAft>
              <a:buClr>
                <a:schemeClr val="accent5"/>
              </a:buClr>
              <a:buSzPts val="13000"/>
              <a:buNone/>
              <a:defRPr sz="13000">
                <a:solidFill>
                  <a:schemeClr val="accent5"/>
                </a:solidFill>
              </a:defRPr>
            </a:lvl7pPr>
            <a:lvl8pPr lvl="7" algn="ctr">
              <a:spcBef>
                <a:spcPts val="0"/>
              </a:spcBef>
              <a:spcAft>
                <a:spcPts val="0"/>
              </a:spcAft>
              <a:buClr>
                <a:schemeClr val="accent5"/>
              </a:buClr>
              <a:buSzPts val="13000"/>
              <a:buNone/>
              <a:defRPr sz="13000">
                <a:solidFill>
                  <a:schemeClr val="accent5"/>
                </a:solidFill>
              </a:defRPr>
            </a:lvl8pPr>
            <a:lvl9pPr lvl="8" algn="ctr">
              <a:spcBef>
                <a:spcPts val="0"/>
              </a:spcBef>
              <a:spcAft>
                <a:spcPts val="0"/>
              </a:spcAft>
              <a:buClr>
                <a:schemeClr val="accent5"/>
              </a:buClr>
              <a:buSzPts val="13000"/>
              <a:buNone/>
              <a:defRPr sz="13000">
                <a:solidFill>
                  <a:schemeClr val="accent5"/>
                </a:solidFill>
              </a:defRPr>
            </a:lvl9pPr>
          </a:lstStyle>
          <a:p>
            <a:r>
              <a:t>xx%</a:t>
            </a:r>
          </a:p>
        </p:txBody>
      </p:sp>
      <p:sp>
        <p:nvSpPr>
          <p:cNvPr id="55" name="Google Shape;55;p11"/>
          <p:cNvSpPr txBox="1"/>
          <p:nvPr>
            <p:ph idx="1" type="body"/>
          </p:nvPr>
        </p:nvSpPr>
        <p:spPr>
          <a:xfrm>
            <a:off x="387900" y="2919450"/>
            <a:ext cx="83682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6" name="Google Shape;56;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rina">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1pPr>
            <a:lvl2pPr lvl="1">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2pPr>
            <a:lvl3pPr lvl="2">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3pPr>
            <a:lvl4pPr lvl="3">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4pPr>
            <a:lvl5pPr lvl="4">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5pPr>
            <a:lvl6pPr lvl="5">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6pPr>
            <a:lvl7pPr lvl="6">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7pPr>
            <a:lvl8pPr lvl="7">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8pPr>
            <a:lvl9pPr lvl="8">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9pPr>
          </a:lstStyle>
          <a:p/>
        </p:txBody>
      </p:sp>
      <p:sp>
        <p:nvSpPr>
          <p:cNvPr id="7" name="Google Shape;7;p1"/>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indent="-317500" lvl="1" marL="9144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indent="-317500" lvl="2" marL="13716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indent="-317500" lvl="3" marL="18288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indent="-317500" lvl="4" marL="22860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indent="-317500" lvl="5" marL="27432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indent="-317500" lvl="6" marL="32004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indent="-317500" lvl="7" marL="36576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indent="-317500" lvl="8" marL="41148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Roboto"/>
                <a:ea typeface="Roboto"/>
                <a:cs typeface="Roboto"/>
                <a:sym typeface="Roboto"/>
              </a:defRPr>
            </a:lvl1pPr>
            <a:lvl2pPr lvl="1" algn="r">
              <a:buNone/>
              <a:defRPr sz="1000">
                <a:solidFill>
                  <a:schemeClr val="dk1"/>
                </a:solidFill>
                <a:latin typeface="Roboto"/>
                <a:ea typeface="Roboto"/>
                <a:cs typeface="Roboto"/>
                <a:sym typeface="Roboto"/>
              </a:defRPr>
            </a:lvl2pPr>
            <a:lvl3pPr lvl="2" algn="r">
              <a:buNone/>
              <a:defRPr sz="1000">
                <a:solidFill>
                  <a:schemeClr val="dk1"/>
                </a:solidFill>
                <a:latin typeface="Roboto"/>
                <a:ea typeface="Roboto"/>
                <a:cs typeface="Roboto"/>
                <a:sym typeface="Roboto"/>
              </a:defRPr>
            </a:lvl3pPr>
            <a:lvl4pPr lvl="3" algn="r">
              <a:buNone/>
              <a:defRPr sz="1000">
                <a:solidFill>
                  <a:schemeClr val="dk1"/>
                </a:solidFill>
                <a:latin typeface="Roboto"/>
                <a:ea typeface="Roboto"/>
                <a:cs typeface="Roboto"/>
                <a:sym typeface="Roboto"/>
              </a:defRPr>
            </a:lvl4pPr>
            <a:lvl5pPr lvl="4" algn="r">
              <a:buNone/>
              <a:defRPr sz="1000">
                <a:solidFill>
                  <a:schemeClr val="dk1"/>
                </a:solidFill>
                <a:latin typeface="Roboto"/>
                <a:ea typeface="Roboto"/>
                <a:cs typeface="Roboto"/>
                <a:sym typeface="Roboto"/>
              </a:defRPr>
            </a:lvl5pPr>
            <a:lvl6pPr lvl="5" algn="r">
              <a:buNone/>
              <a:defRPr sz="1000">
                <a:solidFill>
                  <a:schemeClr val="dk1"/>
                </a:solidFill>
                <a:latin typeface="Roboto"/>
                <a:ea typeface="Roboto"/>
                <a:cs typeface="Roboto"/>
                <a:sym typeface="Roboto"/>
              </a:defRPr>
            </a:lvl6pPr>
            <a:lvl7pPr lvl="6" algn="r">
              <a:buNone/>
              <a:defRPr sz="1000">
                <a:solidFill>
                  <a:schemeClr val="dk1"/>
                </a:solidFill>
                <a:latin typeface="Roboto"/>
                <a:ea typeface="Roboto"/>
                <a:cs typeface="Roboto"/>
                <a:sym typeface="Roboto"/>
              </a:defRPr>
            </a:lvl7pPr>
            <a:lvl8pPr lvl="7" algn="r">
              <a:buNone/>
              <a:defRPr sz="1000">
                <a:solidFill>
                  <a:schemeClr val="dk1"/>
                </a:solidFill>
                <a:latin typeface="Roboto"/>
                <a:ea typeface="Roboto"/>
                <a:cs typeface="Roboto"/>
                <a:sym typeface="Roboto"/>
              </a:defRPr>
            </a:lvl8pPr>
            <a:lvl9pPr lvl="8" algn="r">
              <a:buNone/>
              <a:defRPr sz="1000">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5.png"/><Relationship Id="rId6"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docs.oracle.com/cd/B19306_01/server.102/b14220/intro.htm" TargetMode="External"/><Relationship Id="rId4" Type="http://schemas.openxmlformats.org/officeDocument/2006/relationships/hyperlink" Target="https://www.javatpoint.com/db2-features#:~:text=DB2%20Server%20Features&amp;amp;text=platform%20%2D%20linux%2C%20unix%2C%20and,xml%20backup%20compression%20homogeneous%20federations" TargetMode="External"/><Relationship Id="rId5" Type="http://schemas.openxmlformats.org/officeDocument/2006/relationships/hyperlink" Target="https://www.ibm.com/be-en/products/db2-database" TargetMode="External"/><Relationship Id="rId6" Type="http://schemas.openxmlformats.org/officeDocument/2006/relationships/hyperlink" Target="https://www.dnsstuff.com/db2-vs-oracle"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3"/>
          <p:cNvSpPr txBox="1"/>
          <p:nvPr>
            <p:ph type="ctrTitle"/>
          </p:nvPr>
        </p:nvSpPr>
        <p:spPr>
          <a:xfrm>
            <a:off x="1639950" y="1232125"/>
            <a:ext cx="5864100" cy="12072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SzPts val="990"/>
              <a:buNone/>
            </a:pPr>
            <a:r>
              <a:rPr lang="en" sz="3100"/>
              <a:t>H</a:t>
            </a:r>
            <a:r>
              <a:rPr lang="en" sz="3100"/>
              <a:t>ealth of North Carolinians Alternative Database Products</a:t>
            </a:r>
            <a:endParaRPr sz="3100"/>
          </a:p>
        </p:txBody>
      </p:sp>
      <p:sp>
        <p:nvSpPr>
          <p:cNvPr id="64" name="Google Shape;64;p13"/>
          <p:cNvSpPr txBox="1"/>
          <p:nvPr>
            <p:ph idx="1" type="subTitle"/>
          </p:nvPr>
        </p:nvSpPr>
        <p:spPr>
          <a:xfrm>
            <a:off x="1532925" y="2881775"/>
            <a:ext cx="5930700" cy="1029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600"/>
              <a:t>By: </a:t>
            </a:r>
            <a:r>
              <a:rPr lang="en" sz="1600"/>
              <a:t>Josh Bleeker</a:t>
            </a:r>
            <a:r>
              <a:rPr lang="en" sz="1600"/>
              <a:t>, </a:t>
            </a:r>
            <a:r>
              <a:rPr lang="en" sz="1600"/>
              <a:t>Mena Wadie,</a:t>
            </a:r>
            <a:r>
              <a:rPr lang="en" sz="1600"/>
              <a:t> Bilal Naeem, </a:t>
            </a:r>
            <a:r>
              <a:rPr lang="en" sz="1600"/>
              <a:t>Alex Kahn</a:t>
            </a:r>
            <a:endParaRPr sz="16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4"/>
          <p:cNvSpPr txBox="1"/>
          <p:nvPr>
            <p:ph type="title"/>
          </p:nvPr>
        </p:nvSpPr>
        <p:spPr>
          <a:xfrm>
            <a:off x="265500" y="95050"/>
            <a:ext cx="4045200" cy="1506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Introduction</a:t>
            </a:r>
            <a:endParaRPr/>
          </a:p>
        </p:txBody>
      </p:sp>
      <p:sp>
        <p:nvSpPr>
          <p:cNvPr id="70" name="Google Shape;70;p14"/>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
        <p:nvSpPr>
          <p:cNvPr id="71" name="Google Shape;71;p14"/>
          <p:cNvSpPr txBox="1"/>
          <p:nvPr>
            <p:ph idx="2" type="body"/>
          </p:nvPr>
        </p:nvSpPr>
        <p:spPr>
          <a:xfrm>
            <a:off x="4731300" y="724200"/>
            <a:ext cx="4240200" cy="3695100"/>
          </a:xfrm>
          <a:prstGeom prst="rect">
            <a:avLst/>
          </a:prstGeom>
        </p:spPr>
        <p:txBody>
          <a:bodyPr anchorCtr="0" anchor="ctr" bIns="91425" lIns="91425" spcFirstLastPara="1" rIns="91425" wrap="square" tIns="91425">
            <a:normAutofit/>
          </a:bodyPr>
          <a:lstStyle/>
          <a:p>
            <a:pPr indent="-330200" lvl="0" marL="457200" rtl="0" algn="l">
              <a:lnSpc>
                <a:spcPct val="150000"/>
              </a:lnSpc>
              <a:spcBef>
                <a:spcPts val="0"/>
              </a:spcBef>
              <a:spcAft>
                <a:spcPts val="0"/>
              </a:spcAft>
              <a:buSzPts val="1600"/>
              <a:buChar char="●"/>
            </a:pPr>
            <a:r>
              <a:rPr lang="en" sz="1600"/>
              <a:t>The goal is to improve health of North </a:t>
            </a:r>
            <a:r>
              <a:rPr lang="en" sz="1600"/>
              <a:t>Carolinians </a:t>
            </a:r>
            <a:endParaRPr sz="1600"/>
          </a:p>
          <a:p>
            <a:pPr indent="-330200" lvl="0" marL="457200" rtl="0" algn="l">
              <a:lnSpc>
                <a:spcPct val="150000"/>
              </a:lnSpc>
              <a:spcBef>
                <a:spcPts val="0"/>
              </a:spcBef>
              <a:spcAft>
                <a:spcPts val="0"/>
              </a:spcAft>
              <a:buSzPts val="1600"/>
              <a:buChar char="●"/>
            </a:pPr>
            <a:r>
              <a:rPr lang="en" sz="1600"/>
              <a:t>The department will deploy care plans</a:t>
            </a:r>
            <a:endParaRPr sz="1600"/>
          </a:p>
          <a:p>
            <a:pPr indent="-330200" lvl="0" marL="457200" rtl="0" algn="l">
              <a:lnSpc>
                <a:spcPct val="150000"/>
              </a:lnSpc>
              <a:spcBef>
                <a:spcPts val="0"/>
              </a:spcBef>
              <a:spcAft>
                <a:spcPts val="0"/>
              </a:spcAft>
              <a:buSzPts val="1600"/>
              <a:buChar char="●"/>
            </a:pPr>
            <a:r>
              <a:rPr lang="en" sz="1600"/>
              <a:t>We had to compare and contrast databases</a:t>
            </a:r>
            <a:endParaRPr sz="1600"/>
          </a:p>
          <a:p>
            <a:pPr indent="-330200" lvl="0" marL="457200" rtl="0" algn="l">
              <a:lnSpc>
                <a:spcPct val="150000"/>
              </a:lnSpc>
              <a:spcBef>
                <a:spcPts val="0"/>
              </a:spcBef>
              <a:spcAft>
                <a:spcPts val="0"/>
              </a:spcAft>
              <a:buSzPts val="1600"/>
              <a:buChar char="●"/>
            </a:pPr>
            <a:r>
              <a:rPr lang="en" sz="1600"/>
              <a:t>We compared: </a:t>
            </a:r>
            <a:r>
              <a:rPr b="1" lang="en" sz="1600"/>
              <a:t>Mysql</a:t>
            </a:r>
            <a:r>
              <a:rPr lang="en" sz="1600"/>
              <a:t>, </a:t>
            </a:r>
            <a:r>
              <a:rPr b="1" lang="en" sz="1600"/>
              <a:t>Oracle</a:t>
            </a:r>
            <a:r>
              <a:rPr lang="en" sz="1600"/>
              <a:t>, and </a:t>
            </a:r>
            <a:r>
              <a:rPr b="1" lang="en" sz="1600"/>
              <a:t>IBM</a:t>
            </a:r>
            <a:endParaRPr b="1" sz="1600"/>
          </a:p>
        </p:txBody>
      </p:sp>
      <p:pic>
        <p:nvPicPr>
          <p:cNvPr id="72" name="Google Shape;72;p14"/>
          <p:cNvPicPr preferRelativeResize="0"/>
          <p:nvPr/>
        </p:nvPicPr>
        <p:blipFill>
          <a:blip r:embed="rId3">
            <a:alphaModFix/>
          </a:blip>
          <a:stretch>
            <a:fillRect/>
          </a:stretch>
        </p:blipFill>
        <p:spPr>
          <a:xfrm>
            <a:off x="371040" y="2062152"/>
            <a:ext cx="3834125" cy="2572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5"/>
          <p:cNvSpPr txBox="1"/>
          <p:nvPr>
            <p:ph type="title"/>
          </p:nvPr>
        </p:nvSpPr>
        <p:spPr>
          <a:xfrm>
            <a:off x="265500" y="106900"/>
            <a:ext cx="4045200" cy="1506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Products</a:t>
            </a:r>
            <a:endParaRPr/>
          </a:p>
        </p:txBody>
      </p:sp>
      <p:sp>
        <p:nvSpPr>
          <p:cNvPr id="78" name="Google Shape;78;p15"/>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p>
            <a:pPr indent="-368300" lvl="0" marL="457200" rtl="0" algn="l">
              <a:lnSpc>
                <a:spcPct val="200000"/>
              </a:lnSpc>
              <a:spcBef>
                <a:spcPts val="0"/>
              </a:spcBef>
              <a:spcAft>
                <a:spcPts val="0"/>
              </a:spcAft>
              <a:buSzPts val="2200"/>
              <a:buChar char="●"/>
            </a:pPr>
            <a:r>
              <a:rPr lang="en" sz="2200"/>
              <a:t>MySQL</a:t>
            </a:r>
            <a:endParaRPr sz="2200"/>
          </a:p>
          <a:p>
            <a:pPr indent="-368300" lvl="0" marL="457200" rtl="0" algn="l">
              <a:lnSpc>
                <a:spcPct val="200000"/>
              </a:lnSpc>
              <a:spcBef>
                <a:spcPts val="0"/>
              </a:spcBef>
              <a:spcAft>
                <a:spcPts val="0"/>
              </a:spcAft>
              <a:buSzPts val="2200"/>
              <a:buChar char="●"/>
            </a:pPr>
            <a:r>
              <a:rPr lang="en" sz="2200"/>
              <a:t>Oracle Database</a:t>
            </a:r>
            <a:endParaRPr sz="2200"/>
          </a:p>
          <a:p>
            <a:pPr indent="-368300" lvl="0" marL="457200" rtl="0" algn="l">
              <a:lnSpc>
                <a:spcPct val="200000"/>
              </a:lnSpc>
              <a:spcBef>
                <a:spcPts val="0"/>
              </a:spcBef>
              <a:spcAft>
                <a:spcPts val="0"/>
              </a:spcAft>
              <a:buSzPts val="2200"/>
              <a:buChar char="●"/>
            </a:pPr>
            <a:r>
              <a:rPr lang="en" sz="2200"/>
              <a:t>IBM Db2</a:t>
            </a:r>
            <a:endParaRPr sz="2200"/>
          </a:p>
        </p:txBody>
      </p:sp>
      <p:pic>
        <p:nvPicPr>
          <p:cNvPr id="79" name="Google Shape;79;p15"/>
          <p:cNvPicPr preferRelativeResize="0"/>
          <p:nvPr/>
        </p:nvPicPr>
        <p:blipFill>
          <a:blip r:embed="rId3">
            <a:alphaModFix/>
          </a:blip>
          <a:stretch>
            <a:fillRect/>
          </a:stretch>
        </p:blipFill>
        <p:spPr>
          <a:xfrm>
            <a:off x="173501" y="2047990"/>
            <a:ext cx="2023926" cy="1047525"/>
          </a:xfrm>
          <a:prstGeom prst="rect">
            <a:avLst/>
          </a:prstGeom>
          <a:noFill/>
          <a:ln>
            <a:noFill/>
          </a:ln>
        </p:spPr>
      </p:pic>
      <p:pic>
        <p:nvPicPr>
          <p:cNvPr id="80" name="Google Shape;80;p15"/>
          <p:cNvPicPr preferRelativeResize="0"/>
          <p:nvPr/>
        </p:nvPicPr>
        <p:blipFill>
          <a:blip r:embed="rId4">
            <a:alphaModFix/>
          </a:blip>
          <a:stretch>
            <a:fillRect/>
          </a:stretch>
        </p:blipFill>
        <p:spPr>
          <a:xfrm>
            <a:off x="2337800" y="3274648"/>
            <a:ext cx="2023925" cy="781652"/>
          </a:xfrm>
          <a:prstGeom prst="rect">
            <a:avLst/>
          </a:prstGeom>
          <a:noFill/>
          <a:ln>
            <a:noFill/>
          </a:ln>
        </p:spPr>
      </p:pic>
      <p:pic>
        <p:nvPicPr>
          <p:cNvPr id="81" name="Google Shape;81;p15"/>
          <p:cNvPicPr preferRelativeResize="0"/>
          <p:nvPr/>
        </p:nvPicPr>
        <p:blipFill>
          <a:blip r:embed="rId5">
            <a:alphaModFix/>
          </a:blip>
          <a:stretch>
            <a:fillRect/>
          </a:stretch>
        </p:blipFill>
        <p:spPr>
          <a:xfrm>
            <a:off x="-1399556" y="3386904"/>
            <a:ext cx="5272092" cy="15063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6"/>
          <p:cNvSpPr txBox="1"/>
          <p:nvPr>
            <p:ph type="title"/>
          </p:nvPr>
        </p:nvSpPr>
        <p:spPr>
          <a:xfrm>
            <a:off x="265500" y="208950"/>
            <a:ext cx="4045200" cy="1506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MySQL</a:t>
            </a:r>
            <a:endParaRPr/>
          </a:p>
        </p:txBody>
      </p:sp>
      <p:sp>
        <p:nvSpPr>
          <p:cNvPr id="87" name="Google Shape;87;p16"/>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
        <p:nvSpPr>
          <p:cNvPr id="88" name="Google Shape;88;p16"/>
          <p:cNvSpPr txBox="1"/>
          <p:nvPr>
            <p:ph idx="2" type="body"/>
          </p:nvPr>
        </p:nvSpPr>
        <p:spPr>
          <a:xfrm>
            <a:off x="4731300" y="724200"/>
            <a:ext cx="4290300" cy="3695100"/>
          </a:xfrm>
          <a:prstGeom prst="rect">
            <a:avLst/>
          </a:prstGeom>
        </p:spPr>
        <p:txBody>
          <a:bodyPr anchorCtr="0" anchor="ctr" bIns="91425" lIns="91425" spcFirstLastPara="1" rIns="91425" wrap="square" tIns="91425">
            <a:normAutofit/>
          </a:bodyPr>
          <a:lstStyle/>
          <a:p>
            <a:pPr indent="0" lvl="0" marL="457200" rtl="0" algn="l">
              <a:spcBef>
                <a:spcPts val="0"/>
              </a:spcBef>
              <a:spcAft>
                <a:spcPts val="0"/>
              </a:spcAft>
              <a:buNone/>
            </a:pPr>
            <a:r>
              <a:t/>
            </a:r>
            <a:endParaRPr/>
          </a:p>
          <a:p>
            <a:pPr indent="-336550" lvl="0" marL="457200" rtl="0" algn="l">
              <a:lnSpc>
                <a:spcPct val="150000"/>
              </a:lnSpc>
              <a:spcBef>
                <a:spcPts val="1200"/>
              </a:spcBef>
              <a:spcAft>
                <a:spcPts val="0"/>
              </a:spcAft>
              <a:buSzPts val="1700"/>
              <a:buChar char="●"/>
            </a:pPr>
            <a:r>
              <a:rPr lang="en" sz="1700"/>
              <a:t>U</a:t>
            </a:r>
            <a:r>
              <a:rPr lang="en" sz="1700"/>
              <a:t>sed for both small and large applications.</a:t>
            </a:r>
            <a:endParaRPr sz="1700"/>
          </a:p>
          <a:p>
            <a:pPr indent="-336550" lvl="0" marL="457200" rtl="0" algn="l">
              <a:lnSpc>
                <a:spcPct val="150000"/>
              </a:lnSpc>
              <a:spcBef>
                <a:spcPts val="0"/>
              </a:spcBef>
              <a:spcAft>
                <a:spcPts val="0"/>
              </a:spcAft>
              <a:buSzPts val="1700"/>
              <a:buChar char="●"/>
            </a:pPr>
            <a:r>
              <a:rPr lang="en" sz="1700"/>
              <a:t>It is a relational database (RDBMS)</a:t>
            </a:r>
            <a:endParaRPr sz="1700"/>
          </a:p>
          <a:p>
            <a:pPr indent="-336550" lvl="0" marL="457200" rtl="0" algn="l">
              <a:lnSpc>
                <a:spcPct val="150000"/>
              </a:lnSpc>
              <a:spcBef>
                <a:spcPts val="0"/>
              </a:spcBef>
              <a:spcAft>
                <a:spcPts val="0"/>
              </a:spcAft>
              <a:buSzPts val="1700"/>
              <a:buChar char="●"/>
            </a:pPr>
            <a:r>
              <a:rPr lang="en" sz="1700"/>
              <a:t>MySQL is fast, reliable, and flexible </a:t>
            </a:r>
            <a:endParaRPr sz="1700"/>
          </a:p>
          <a:p>
            <a:pPr indent="-336550" lvl="0" marL="457200" rtl="0" algn="l">
              <a:lnSpc>
                <a:spcPct val="150000"/>
              </a:lnSpc>
              <a:spcBef>
                <a:spcPts val="0"/>
              </a:spcBef>
              <a:spcAft>
                <a:spcPts val="0"/>
              </a:spcAft>
              <a:buSzPts val="1700"/>
              <a:buChar char="●"/>
            </a:pPr>
            <a:r>
              <a:rPr lang="en" sz="1700"/>
              <a:t>Fully Multithreaded</a:t>
            </a:r>
            <a:endParaRPr sz="1700"/>
          </a:p>
          <a:p>
            <a:pPr indent="-336550" lvl="0" marL="457200" rtl="0" algn="l">
              <a:lnSpc>
                <a:spcPct val="150000"/>
              </a:lnSpc>
              <a:spcBef>
                <a:spcPts val="0"/>
              </a:spcBef>
              <a:spcAft>
                <a:spcPts val="0"/>
              </a:spcAft>
              <a:buSzPts val="1700"/>
              <a:buChar char="●"/>
            </a:pPr>
            <a:r>
              <a:rPr lang="en" sz="1700"/>
              <a:t>Works on many different platforms</a:t>
            </a:r>
            <a:endParaRPr sz="1700"/>
          </a:p>
          <a:p>
            <a:pPr indent="0" lvl="0" marL="457200" rtl="0" algn="l">
              <a:spcBef>
                <a:spcPts val="1200"/>
              </a:spcBef>
              <a:spcAft>
                <a:spcPts val="1200"/>
              </a:spcAft>
              <a:buNone/>
            </a:pPr>
            <a:r>
              <a:t/>
            </a:r>
            <a:endParaRPr/>
          </a:p>
        </p:txBody>
      </p:sp>
      <p:pic>
        <p:nvPicPr>
          <p:cNvPr id="89" name="Google Shape;89;p16"/>
          <p:cNvPicPr preferRelativeResize="0"/>
          <p:nvPr/>
        </p:nvPicPr>
        <p:blipFill>
          <a:blip r:embed="rId3">
            <a:alphaModFix/>
          </a:blip>
          <a:stretch>
            <a:fillRect/>
          </a:stretch>
        </p:blipFill>
        <p:spPr>
          <a:xfrm>
            <a:off x="500075" y="2456234"/>
            <a:ext cx="3837000" cy="198592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7"/>
          <p:cNvSpPr txBox="1"/>
          <p:nvPr>
            <p:ph type="title"/>
          </p:nvPr>
        </p:nvSpPr>
        <p:spPr>
          <a:xfrm>
            <a:off x="265500" y="198725"/>
            <a:ext cx="4045200" cy="1506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Oracle Database</a:t>
            </a:r>
            <a:endParaRPr/>
          </a:p>
        </p:txBody>
      </p:sp>
      <p:sp>
        <p:nvSpPr>
          <p:cNvPr id="95" name="Google Shape;95;p17"/>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
        <p:nvSpPr>
          <p:cNvPr id="96" name="Google Shape;96;p17"/>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p>
            <a:pPr indent="-342900" lvl="0" marL="457200" rtl="0" algn="l">
              <a:lnSpc>
                <a:spcPct val="150000"/>
              </a:lnSpc>
              <a:spcBef>
                <a:spcPts val="0"/>
              </a:spcBef>
              <a:spcAft>
                <a:spcPts val="0"/>
              </a:spcAft>
              <a:buSzPts val="1800"/>
              <a:buChar char="●"/>
            </a:pPr>
            <a:r>
              <a:rPr lang="en"/>
              <a:t>Quickly store and </a:t>
            </a:r>
            <a:r>
              <a:rPr lang="en"/>
              <a:t>retrieve</a:t>
            </a:r>
            <a:r>
              <a:rPr lang="en"/>
              <a:t> data</a:t>
            </a:r>
            <a:endParaRPr/>
          </a:p>
          <a:p>
            <a:pPr indent="-342900" lvl="0" marL="457200" rtl="0" algn="l">
              <a:lnSpc>
                <a:spcPct val="150000"/>
              </a:lnSpc>
              <a:spcBef>
                <a:spcPts val="0"/>
              </a:spcBef>
              <a:spcAft>
                <a:spcPts val="0"/>
              </a:spcAft>
              <a:buSzPts val="1800"/>
              <a:buChar char="●"/>
            </a:pPr>
            <a:r>
              <a:rPr lang="en"/>
              <a:t>It is cross-platform</a:t>
            </a:r>
            <a:endParaRPr/>
          </a:p>
          <a:p>
            <a:pPr indent="-342900" lvl="0" marL="457200" rtl="0" algn="l">
              <a:lnSpc>
                <a:spcPct val="150000"/>
              </a:lnSpc>
              <a:spcBef>
                <a:spcPts val="0"/>
              </a:spcBef>
              <a:spcAft>
                <a:spcPts val="0"/>
              </a:spcAft>
              <a:buSzPts val="1800"/>
              <a:buChar char="●"/>
            </a:pPr>
            <a:r>
              <a:rPr lang="en"/>
              <a:t>ACID-</a:t>
            </a:r>
            <a:r>
              <a:rPr lang="en"/>
              <a:t>Compliant</a:t>
            </a:r>
            <a:endParaRPr/>
          </a:p>
          <a:p>
            <a:pPr indent="-342900" lvl="0" marL="457200" rtl="0" algn="l">
              <a:lnSpc>
                <a:spcPct val="150000"/>
              </a:lnSpc>
              <a:spcBef>
                <a:spcPts val="0"/>
              </a:spcBef>
              <a:spcAft>
                <a:spcPts val="0"/>
              </a:spcAft>
              <a:buSzPts val="1800"/>
              <a:buChar char="●"/>
            </a:pPr>
            <a:r>
              <a:rPr lang="en"/>
              <a:t>Is a relational database </a:t>
            </a:r>
            <a:endParaRPr/>
          </a:p>
        </p:txBody>
      </p:sp>
      <p:pic>
        <p:nvPicPr>
          <p:cNvPr id="97" name="Google Shape;97;p17"/>
          <p:cNvPicPr preferRelativeResize="0"/>
          <p:nvPr/>
        </p:nvPicPr>
        <p:blipFill>
          <a:blip r:embed="rId3">
            <a:alphaModFix/>
          </a:blip>
          <a:stretch>
            <a:fillRect/>
          </a:stretch>
        </p:blipFill>
        <p:spPr>
          <a:xfrm>
            <a:off x="265500" y="2769002"/>
            <a:ext cx="4045200" cy="156227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8"/>
          <p:cNvSpPr txBox="1"/>
          <p:nvPr>
            <p:ph type="title"/>
          </p:nvPr>
        </p:nvSpPr>
        <p:spPr>
          <a:xfrm>
            <a:off x="306325" y="259975"/>
            <a:ext cx="4045200" cy="1506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IMB Db2</a:t>
            </a:r>
            <a:endParaRPr/>
          </a:p>
        </p:txBody>
      </p:sp>
      <p:sp>
        <p:nvSpPr>
          <p:cNvPr id="103" name="Google Shape;103;p18"/>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
        <p:nvSpPr>
          <p:cNvPr id="104" name="Google Shape;104;p18"/>
          <p:cNvSpPr txBox="1"/>
          <p:nvPr>
            <p:ph idx="2" type="body"/>
          </p:nvPr>
        </p:nvSpPr>
        <p:spPr>
          <a:xfrm>
            <a:off x="4731300" y="724200"/>
            <a:ext cx="4310700" cy="3695100"/>
          </a:xfrm>
          <a:prstGeom prst="rect">
            <a:avLst/>
          </a:prstGeom>
        </p:spPr>
        <p:txBody>
          <a:bodyPr anchorCtr="0" anchor="ctr" bIns="91425" lIns="91425" spcFirstLastPara="1" rIns="91425" wrap="square" tIns="91425">
            <a:normAutofit/>
          </a:bodyPr>
          <a:lstStyle/>
          <a:p>
            <a:pPr indent="-342900" lvl="0" marL="457200" rtl="0" algn="l">
              <a:lnSpc>
                <a:spcPct val="200000"/>
              </a:lnSpc>
              <a:spcBef>
                <a:spcPts val="0"/>
              </a:spcBef>
              <a:spcAft>
                <a:spcPts val="0"/>
              </a:spcAft>
              <a:buSzPts val="1800"/>
              <a:buChar char="●"/>
            </a:pPr>
            <a:r>
              <a:rPr lang="en"/>
              <a:t>RBDMS</a:t>
            </a:r>
            <a:endParaRPr/>
          </a:p>
          <a:p>
            <a:pPr indent="-342900" lvl="0" marL="457200" rtl="0" algn="l">
              <a:lnSpc>
                <a:spcPct val="200000"/>
              </a:lnSpc>
              <a:spcBef>
                <a:spcPts val="0"/>
              </a:spcBef>
              <a:spcAft>
                <a:spcPts val="0"/>
              </a:spcAft>
              <a:buSzPts val="1800"/>
              <a:buChar char="●"/>
            </a:pPr>
            <a:r>
              <a:rPr lang="en"/>
              <a:t>Developed for Resilience/Efficiency</a:t>
            </a:r>
            <a:endParaRPr/>
          </a:p>
          <a:p>
            <a:pPr indent="-342900" lvl="0" marL="457200" rtl="0" algn="l">
              <a:lnSpc>
                <a:spcPct val="200000"/>
              </a:lnSpc>
              <a:spcBef>
                <a:spcPts val="0"/>
              </a:spcBef>
              <a:spcAft>
                <a:spcPts val="0"/>
              </a:spcAft>
              <a:buSzPts val="1800"/>
              <a:buChar char="●"/>
            </a:pPr>
            <a:r>
              <a:rPr lang="en"/>
              <a:t>AI-powered capabilities</a:t>
            </a:r>
            <a:endParaRPr/>
          </a:p>
          <a:p>
            <a:pPr indent="-342900" lvl="0" marL="457200" rtl="0" algn="l">
              <a:lnSpc>
                <a:spcPct val="200000"/>
              </a:lnSpc>
              <a:spcBef>
                <a:spcPts val="0"/>
              </a:spcBef>
              <a:spcAft>
                <a:spcPts val="0"/>
              </a:spcAft>
              <a:buSzPts val="1800"/>
              <a:buChar char="●"/>
            </a:pPr>
            <a:r>
              <a:rPr lang="en"/>
              <a:t>Makes it easier to access data</a:t>
            </a:r>
            <a:endParaRPr/>
          </a:p>
        </p:txBody>
      </p:sp>
      <p:pic>
        <p:nvPicPr>
          <p:cNvPr id="105" name="Google Shape;105;p18"/>
          <p:cNvPicPr preferRelativeResize="0"/>
          <p:nvPr/>
        </p:nvPicPr>
        <p:blipFill>
          <a:blip r:embed="rId3">
            <a:alphaModFix/>
          </a:blip>
          <a:stretch>
            <a:fillRect/>
          </a:stretch>
        </p:blipFill>
        <p:spPr>
          <a:xfrm>
            <a:off x="-470881" y="2688604"/>
            <a:ext cx="5272092" cy="15063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9"/>
          <p:cNvSpPr txBox="1"/>
          <p:nvPr>
            <p:ph type="title"/>
          </p:nvPr>
        </p:nvSpPr>
        <p:spPr>
          <a:xfrm>
            <a:off x="265500" y="86475"/>
            <a:ext cx="4045200" cy="1506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Comparison</a:t>
            </a:r>
            <a:endParaRPr/>
          </a:p>
        </p:txBody>
      </p:sp>
      <p:sp>
        <p:nvSpPr>
          <p:cNvPr id="111" name="Google Shape;111;p19"/>
          <p:cNvSpPr txBox="1"/>
          <p:nvPr>
            <p:ph idx="2" type="body"/>
          </p:nvPr>
        </p:nvSpPr>
        <p:spPr>
          <a:xfrm>
            <a:off x="4731300" y="724200"/>
            <a:ext cx="4229100" cy="3695100"/>
          </a:xfrm>
          <a:prstGeom prst="rect">
            <a:avLst/>
          </a:prstGeom>
        </p:spPr>
        <p:txBody>
          <a:bodyPr anchorCtr="0" anchor="ctr" bIns="91425" lIns="91425" spcFirstLastPara="1" rIns="91425" wrap="square" tIns="91425">
            <a:normAutofit/>
          </a:bodyPr>
          <a:lstStyle/>
          <a:p>
            <a:pPr indent="-342900" lvl="0" marL="457200" rtl="0" algn="l">
              <a:lnSpc>
                <a:spcPct val="200000"/>
              </a:lnSpc>
              <a:spcBef>
                <a:spcPts val="0"/>
              </a:spcBef>
              <a:spcAft>
                <a:spcPts val="0"/>
              </a:spcAft>
              <a:buSzPts val="1800"/>
              <a:buChar char="●"/>
            </a:pPr>
            <a:r>
              <a:rPr lang="en"/>
              <a:t>All 3 are relational databases</a:t>
            </a:r>
            <a:endParaRPr/>
          </a:p>
          <a:p>
            <a:pPr indent="-342900" lvl="0" marL="457200" rtl="0" algn="l">
              <a:lnSpc>
                <a:spcPct val="200000"/>
              </a:lnSpc>
              <a:spcBef>
                <a:spcPts val="0"/>
              </a:spcBef>
              <a:spcAft>
                <a:spcPts val="0"/>
              </a:spcAft>
              <a:buSzPts val="1800"/>
              <a:buChar char="●"/>
            </a:pPr>
            <a:r>
              <a:rPr lang="en"/>
              <a:t>MySQL is open source </a:t>
            </a:r>
            <a:endParaRPr/>
          </a:p>
          <a:p>
            <a:pPr indent="-342900" lvl="0" marL="457200" rtl="0" algn="l">
              <a:lnSpc>
                <a:spcPct val="200000"/>
              </a:lnSpc>
              <a:spcBef>
                <a:spcPts val="0"/>
              </a:spcBef>
              <a:spcAft>
                <a:spcPts val="0"/>
              </a:spcAft>
              <a:buSzPts val="1800"/>
              <a:buChar char="●"/>
            </a:pPr>
            <a:r>
              <a:rPr lang="en"/>
              <a:t>Db2 is known to be very scalable</a:t>
            </a:r>
            <a:endParaRPr/>
          </a:p>
          <a:p>
            <a:pPr indent="-342900" lvl="0" marL="457200" rtl="0" algn="l">
              <a:lnSpc>
                <a:spcPct val="200000"/>
              </a:lnSpc>
              <a:spcBef>
                <a:spcPts val="0"/>
              </a:spcBef>
              <a:spcAft>
                <a:spcPts val="0"/>
              </a:spcAft>
              <a:buSzPts val="1800"/>
              <a:buChar char="●"/>
            </a:pPr>
            <a:r>
              <a:rPr lang="en"/>
              <a:t>Oracle has wide array of tools</a:t>
            </a:r>
            <a:endParaRPr/>
          </a:p>
        </p:txBody>
      </p:sp>
      <p:pic>
        <p:nvPicPr>
          <p:cNvPr id="112" name="Google Shape;112;p19"/>
          <p:cNvPicPr preferRelativeResize="0"/>
          <p:nvPr/>
        </p:nvPicPr>
        <p:blipFill>
          <a:blip r:embed="rId3">
            <a:alphaModFix/>
          </a:blip>
          <a:stretch>
            <a:fillRect/>
          </a:stretch>
        </p:blipFill>
        <p:spPr>
          <a:xfrm>
            <a:off x="71625" y="2201073"/>
            <a:ext cx="1682399" cy="870750"/>
          </a:xfrm>
          <a:prstGeom prst="rect">
            <a:avLst/>
          </a:prstGeom>
          <a:noFill/>
          <a:ln>
            <a:noFill/>
          </a:ln>
        </p:spPr>
      </p:pic>
      <p:pic>
        <p:nvPicPr>
          <p:cNvPr id="113" name="Google Shape;113;p19"/>
          <p:cNvPicPr preferRelativeResize="0"/>
          <p:nvPr/>
        </p:nvPicPr>
        <p:blipFill>
          <a:blip r:embed="rId4">
            <a:alphaModFix/>
          </a:blip>
          <a:stretch>
            <a:fillRect/>
          </a:stretch>
        </p:blipFill>
        <p:spPr>
          <a:xfrm>
            <a:off x="1653271" y="2191974"/>
            <a:ext cx="953450" cy="759575"/>
          </a:xfrm>
          <a:prstGeom prst="rect">
            <a:avLst/>
          </a:prstGeom>
          <a:noFill/>
          <a:ln>
            <a:noFill/>
          </a:ln>
        </p:spPr>
      </p:pic>
      <p:pic>
        <p:nvPicPr>
          <p:cNvPr id="114" name="Google Shape;114;p19"/>
          <p:cNvPicPr preferRelativeResize="0"/>
          <p:nvPr/>
        </p:nvPicPr>
        <p:blipFill>
          <a:blip r:embed="rId5">
            <a:alphaModFix/>
          </a:blip>
          <a:stretch>
            <a:fillRect/>
          </a:stretch>
        </p:blipFill>
        <p:spPr>
          <a:xfrm>
            <a:off x="1653274" y="2058564"/>
            <a:ext cx="4045199" cy="1155766"/>
          </a:xfrm>
          <a:prstGeom prst="rect">
            <a:avLst/>
          </a:prstGeom>
          <a:noFill/>
          <a:ln>
            <a:noFill/>
          </a:ln>
        </p:spPr>
      </p:pic>
      <p:pic>
        <p:nvPicPr>
          <p:cNvPr id="115" name="Google Shape;115;p19"/>
          <p:cNvPicPr preferRelativeResize="0"/>
          <p:nvPr/>
        </p:nvPicPr>
        <p:blipFill>
          <a:blip r:embed="rId4">
            <a:alphaModFix/>
          </a:blip>
          <a:stretch>
            <a:fillRect/>
          </a:stretch>
        </p:blipFill>
        <p:spPr>
          <a:xfrm flipH="1">
            <a:off x="2388071" y="2191987"/>
            <a:ext cx="953450" cy="759575"/>
          </a:xfrm>
          <a:prstGeom prst="rect">
            <a:avLst/>
          </a:prstGeom>
          <a:noFill/>
          <a:ln>
            <a:noFill/>
          </a:ln>
        </p:spPr>
      </p:pic>
      <p:pic>
        <p:nvPicPr>
          <p:cNvPr id="116" name="Google Shape;116;p19"/>
          <p:cNvPicPr preferRelativeResize="0"/>
          <p:nvPr/>
        </p:nvPicPr>
        <p:blipFill>
          <a:blip r:embed="rId6">
            <a:alphaModFix/>
          </a:blip>
          <a:stretch>
            <a:fillRect/>
          </a:stretch>
        </p:blipFill>
        <p:spPr>
          <a:xfrm>
            <a:off x="1378500" y="3386898"/>
            <a:ext cx="2023925" cy="781652"/>
          </a:xfrm>
          <a:prstGeom prst="rect">
            <a:avLst/>
          </a:prstGeom>
          <a:noFill/>
          <a:ln>
            <a:noFill/>
          </a:ln>
        </p:spPr>
      </p:pic>
      <p:pic>
        <p:nvPicPr>
          <p:cNvPr id="117" name="Google Shape;117;p19"/>
          <p:cNvPicPr preferRelativeResize="0"/>
          <p:nvPr/>
        </p:nvPicPr>
        <p:blipFill>
          <a:blip r:embed="rId4">
            <a:alphaModFix/>
          </a:blip>
          <a:stretch>
            <a:fillRect/>
          </a:stretch>
        </p:blipFill>
        <p:spPr>
          <a:xfrm flipH="1" rot="2700004">
            <a:off x="1913734" y="2538287"/>
            <a:ext cx="953450" cy="75957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0"/>
          <p:cNvSpPr txBox="1"/>
          <p:nvPr>
            <p:ph type="title"/>
          </p:nvPr>
        </p:nvSpPr>
        <p:spPr>
          <a:xfrm>
            <a:off x="265500" y="137500"/>
            <a:ext cx="4045200" cy="1506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300"/>
              <a:t>Opinion/Takeaway</a:t>
            </a:r>
            <a:endParaRPr sz="3300"/>
          </a:p>
        </p:txBody>
      </p:sp>
      <p:sp>
        <p:nvSpPr>
          <p:cNvPr id="123" name="Google Shape;123;p20"/>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
        <p:nvSpPr>
          <p:cNvPr id="124" name="Google Shape;124;p20"/>
          <p:cNvSpPr txBox="1"/>
          <p:nvPr>
            <p:ph idx="2" type="body"/>
          </p:nvPr>
        </p:nvSpPr>
        <p:spPr>
          <a:xfrm>
            <a:off x="4731300" y="724200"/>
            <a:ext cx="4280100" cy="3695100"/>
          </a:xfrm>
          <a:prstGeom prst="rect">
            <a:avLst/>
          </a:prstGeom>
        </p:spPr>
        <p:txBody>
          <a:bodyPr anchorCtr="0" anchor="ctr" bIns="91425" lIns="91425" spcFirstLastPara="1" rIns="91425" wrap="square" tIns="91425">
            <a:normAutofit/>
          </a:bodyPr>
          <a:lstStyle/>
          <a:p>
            <a:pPr indent="-342900" lvl="0" marL="457200" rtl="0" algn="l">
              <a:lnSpc>
                <a:spcPct val="150000"/>
              </a:lnSpc>
              <a:spcBef>
                <a:spcPts val="0"/>
              </a:spcBef>
              <a:spcAft>
                <a:spcPts val="0"/>
              </a:spcAft>
              <a:buSzPts val="1800"/>
              <a:buChar char="●"/>
            </a:pPr>
            <a:r>
              <a:rPr lang="en"/>
              <a:t>Each database has own </a:t>
            </a:r>
            <a:r>
              <a:rPr lang="en"/>
              <a:t>strengths</a:t>
            </a:r>
            <a:r>
              <a:rPr lang="en"/>
              <a:t> </a:t>
            </a:r>
            <a:endParaRPr/>
          </a:p>
          <a:p>
            <a:pPr indent="-342900" lvl="0" marL="457200" rtl="0" algn="l">
              <a:lnSpc>
                <a:spcPct val="150000"/>
              </a:lnSpc>
              <a:spcBef>
                <a:spcPts val="0"/>
              </a:spcBef>
              <a:spcAft>
                <a:spcPts val="0"/>
              </a:spcAft>
              <a:buSzPts val="1800"/>
              <a:buChar char="●"/>
            </a:pPr>
            <a:r>
              <a:rPr lang="en"/>
              <a:t>We will be working with large datasets</a:t>
            </a:r>
            <a:endParaRPr/>
          </a:p>
          <a:p>
            <a:pPr indent="-342900" lvl="0" marL="457200" rtl="0" algn="l">
              <a:lnSpc>
                <a:spcPct val="150000"/>
              </a:lnSpc>
              <a:spcBef>
                <a:spcPts val="0"/>
              </a:spcBef>
              <a:spcAft>
                <a:spcPts val="0"/>
              </a:spcAft>
              <a:buSzPts val="1800"/>
              <a:buChar char="●"/>
            </a:pPr>
            <a:r>
              <a:rPr lang="en"/>
              <a:t>Cost is an important factor</a:t>
            </a:r>
            <a:endParaRPr/>
          </a:p>
          <a:p>
            <a:pPr indent="-342900" lvl="0" marL="457200" rtl="0" algn="l">
              <a:lnSpc>
                <a:spcPct val="150000"/>
              </a:lnSpc>
              <a:spcBef>
                <a:spcPts val="0"/>
              </a:spcBef>
              <a:spcAft>
                <a:spcPts val="0"/>
              </a:spcAft>
              <a:buSzPts val="1800"/>
              <a:buChar char="●"/>
            </a:pPr>
            <a:r>
              <a:rPr lang="en"/>
              <a:t>Oracle is more robust for larger data sets</a:t>
            </a:r>
            <a:endParaRPr/>
          </a:p>
        </p:txBody>
      </p:sp>
      <p:pic>
        <p:nvPicPr>
          <p:cNvPr id="125" name="Google Shape;125;p20"/>
          <p:cNvPicPr preferRelativeResize="0"/>
          <p:nvPr/>
        </p:nvPicPr>
        <p:blipFill>
          <a:blip r:embed="rId3">
            <a:alphaModFix/>
          </a:blip>
          <a:stretch>
            <a:fillRect/>
          </a:stretch>
        </p:blipFill>
        <p:spPr>
          <a:xfrm>
            <a:off x="473696" y="2113618"/>
            <a:ext cx="3837000" cy="273791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1"/>
          <p:cNvSpPr txBox="1"/>
          <p:nvPr>
            <p:ph type="title"/>
          </p:nvPr>
        </p:nvSpPr>
        <p:spPr>
          <a:xfrm>
            <a:off x="265500" y="137525"/>
            <a:ext cx="4045200" cy="15063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Conclusion</a:t>
            </a:r>
            <a:endParaRPr/>
          </a:p>
        </p:txBody>
      </p:sp>
      <p:sp>
        <p:nvSpPr>
          <p:cNvPr id="131" name="Google Shape;131;p21"/>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
        <p:nvSpPr>
          <p:cNvPr id="132" name="Google Shape;132;p21"/>
          <p:cNvSpPr txBox="1"/>
          <p:nvPr>
            <p:ph idx="2" type="body"/>
          </p:nvPr>
        </p:nvSpPr>
        <p:spPr>
          <a:xfrm>
            <a:off x="4731300" y="724200"/>
            <a:ext cx="4269900" cy="3695100"/>
          </a:xfrm>
          <a:prstGeom prst="rect">
            <a:avLst/>
          </a:prstGeom>
        </p:spPr>
        <p:txBody>
          <a:bodyPr anchorCtr="0" anchor="ctr" bIns="91425" lIns="91425" spcFirstLastPara="1" rIns="91425" wrap="square" tIns="91425">
            <a:normAutofit/>
          </a:bodyPr>
          <a:lstStyle/>
          <a:p>
            <a:pPr indent="-342900" lvl="0" marL="457200" rtl="0" algn="l">
              <a:lnSpc>
                <a:spcPct val="150000"/>
              </a:lnSpc>
              <a:spcBef>
                <a:spcPts val="0"/>
              </a:spcBef>
              <a:spcAft>
                <a:spcPts val="0"/>
              </a:spcAft>
              <a:buSzPts val="1800"/>
              <a:buChar char="●"/>
            </a:pPr>
            <a:r>
              <a:rPr lang="en"/>
              <a:t>Oracle is the best choice for us</a:t>
            </a:r>
            <a:endParaRPr/>
          </a:p>
          <a:p>
            <a:pPr indent="-342900" lvl="0" marL="457200" rtl="0" algn="l">
              <a:lnSpc>
                <a:spcPct val="150000"/>
              </a:lnSpc>
              <a:spcBef>
                <a:spcPts val="0"/>
              </a:spcBef>
              <a:spcAft>
                <a:spcPts val="0"/>
              </a:spcAft>
              <a:buSzPts val="1800"/>
              <a:buChar char="●"/>
            </a:pPr>
            <a:r>
              <a:rPr lang="en"/>
              <a:t>Oracle is well worth the money</a:t>
            </a:r>
            <a:endParaRPr/>
          </a:p>
          <a:p>
            <a:pPr indent="-342900" lvl="0" marL="457200" rtl="0" algn="l">
              <a:lnSpc>
                <a:spcPct val="150000"/>
              </a:lnSpc>
              <a:spcBef>
                <a:spcPts val="0"/>
              </a:spcBef>
              <a:spcAft>
                <a:spcPts val="0"/>
              </a:spcAft>
              <a:buSzPts val="1800"/>
              <a:buChar char="●"/>
            </a:pPr>
            <a:r>
              <a:rPr lang="en"/>
              <a:t>Oracle is perfect for our large database</a:t>
            </a:r>
            <a:endParaRPr/>
          </a:p>
          <a:p>
            <a:pPr indent="-342900" lvl="0" marL="457200" rtl="0" algn="l">
              <a:lnSpc>
                <a:spcPct val="150000"/>
              </a:lnSpc>
              <a:spcBef>
                <a:spcPts val="0"/>
              </a:spcBef>
              <a:spcAft>
                <a:spcPts val="0"/>
              </a:spcAft>
              <a:buSzPts val="1800"/>
              <a:buChar char="●"/>
            </a:pPr>
            <a:r>
              <a:rPr lang="en"/>
              <a:t>Oracle</a:t>
            </a:r>
            <a:r>
              <a:rPr lang="en"/>
              <a:t> Flashback is a major </a:t>
            </a:r>
            <a:r>
              <a:rPr lang="en"/>
              <a:t>benefit</a:t>
            </a:r>
            <a:endParaRPr/>
          </a:p>
        </p:txBody>
      </p:sp>
      <p:pic>
        <p:nvPicPr>
          <p:cNvPr id="133" name="Google Shape;133;p21"/>
          <p:cNvPicPr preferRelativeResize="0"/>
          <p:nvPr/>
        </p:nvPicPr>
        <p:blipFill>
          <a:blip r:embed="rId3">
            <a:alphaModFix/>
          </a:blip>
          <a:stretch>
            <a:fillRect/>
          </a:stretch>
        </p:blipFill>
        <p:spPr>
          <a:xfrm>
            <a:off x="265500" y="2385956"/>
            <a:ext cx="4045200" cy="211158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2"/>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Bibliography</a:t>
            </a:r>
            <a:r>
              <a:rPr lang="en"/>
              <a:t> </a:t>
            </a:r>
            <a:endParaRPr/>
          </a:p>
        </p:txBody>
      </p:sp>
      <p:sp>
        <p:nvSpPr>
          <p:cNvPr id="139" name="Google Shape;139;p22"/>
          <p:cNvSpPr txBox="1"/>
          <p:nvPr>
            <p:ph idx="1" type="body"/>
          </p:nvPr>
        </p:nvSpPr>
        <p:spPr>
          <a:xfrm>
            <a:off x="387900" y="1459224"/>
            <a:ext cx="8368200" cy="30789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sz="1300"/>
              <a:t>Database concepts. Introduction to the Oracle Database. (2005, October 10). Retrieved April 26, 2022, from </a:t>
            </a:r>
            <a:r>
              <a:rPr lang="en" sz="1300" u="sng">
                <a:solidFill>
                  <a:schemeClr val="hlink"/>
                </a:solidFill>
                <a:hlinkClick r:id="rId3"/>
              </a:rPr>
              <a:t>https://docs.oracle.com/cd/B19306_01/server.102/b14220/intro.htm</a:t>
            </a:r>
            <a:endParaRPr sz="1300"/>
          </a:p>
          <a:p>
            <a:pPr indent="-311150" lvl="0" marL="457200" rtl="0" algn="l">
              <a:spcBef>
                <a:spcPts val="0"/>
              </a:spcBef>
              <a:spcAft>
                <a:spcPts val="0"/>
              </a:spcAft>
              <a:buSzPts val="1300"/>
              <a:buChar char="●"/>
            </a:pPr>
            <a:r>
              <a:rPr lang="en" sz="1300"/>
              <a:t>DB2 features - javatpoint. www.javatpoint.com. (n.d.). Retrieved April 26, 2022, from </a:t>
            </a:r>
            <a:r>
              <a:rPr lang="en" sz="1300" u="sng">
                <a:solidFill>
                  <a:schemeClr val="hlink"/>
                </a:solidFill>
                <a:hlinkClick r:id="rId4"/>
              </a:rPr>
              <a:t>https://www.javatpoint.com/db2-features#:~:text=DB2%20Server%20Features&amp;amp;text=platform%20%2D%20linux%2C%20unix%2C%20and,xml%20backup%20compression%20homogeneous%20federations</a:t>
            </a:r>
            <a:endParaRPr sz="1300"/>
          </a:p>
          <a:p>
            <a:pPr indent="-311150" lvl="0" marL="457200" rtl="0" algn="l">
              <a:spcBef>
                <a:spcPts val="0"/>
              </a:spcBef>
              <a:spcAft>
                <a:spcPts val="0"/>
              </a:spcAft>
              <a:buSzPts val="1300"/>
              <a:buChar char="●"/>
            </a:pPr>
            <a:r>
              <a:rPr lang="en" sz="1300"/>
              <a:t>DB2 database - Belgium/Luxembourg - IBM. (n.d.). Retrieved April 26, 2022, from </a:t>
            </a:r>
            <a:r>
              <a:rPr lang="en" sz="1300" u="sng">
                <a:solidFill>
                  <a:schemeClr val="hlink"/>
                </a:solidFill>
                <a:hlinkClick r:id="rId5"/>
              </a:rPr>
              <a:t>https://www.ibm.com/be-en/products/db2-database</a:t>
            </a:r>
            <a:endParaRPr sz="1300"/>
          </a:p>
          <a:p>
            <a:pPr indent="-311150" lvl="0" marL="457200" rtl="0" algn="l">
              <a:spcBef>
                <a:spcPts val="0"/>
              </a:spcBef>
              <a:spcAft>
                <a:spcPts val="0"/>
              </a:spcAft>
              <a:buSzPts val="1300"/>
              <a:buChar char="●"/>
            </a:pPr>
            <a:r>
              <a:rPr lang="en" sz="1300"/>
              <a:t>IBM DB2 vs. Oracle Database Comparison. DNSstuff. (2021, May 17). Retrieved April 26, 2022, from </a:t>
            </a:r>
            <a:r>
              <a:rPr lang="en" sz="1300" u="sng">
                <a:solidFill>
                  <a:schemeClr val="hlink"/>
                </a:solidFill>
                <a:hlinkClick r:id="rId6"/>
              </a:rPr>
              <a:t>https://www.dnsstuff.com/db2-vs-oracle</a:t>
            </a:r>
            <a:endParaRPr sz="1300"/>
          </a:p>
          <a:p>
            <a:pPr indent="-311150" lvl="0" marL="457200" rtl="0" algn="l">
              <a:spcBef>
                <a:spcPts val="0"/>
              </a:spcBef>
              <a:spcAft>
                <a:spcPts val="0"/>
              </a:spcAft>
              <a:buSzPts val="1300"/>
              <a:buChar char="●"/>
            </a:pPr>
            <a:r>
              <a:rPr lang="en" sz="1300"/>
              <a:t>Dearmer, A. (2020, October 8). Oracle vs. mysql: Compare syntax, features &amp;amp; more. Integrate.io. Retrieved April 26, 2022, from  https://www.integrate.io/blog/oracle-vs-mysql/#key</a:t>
            </a:r>
            <a:endParaRPr sz="1300"/>
          </a:p>
          <a:p>
            <a:pPr indent="0" lvl="0" marL="457200" rtl="0" algn="l">
              <a:spcBef>
                <a:spcPts val="1200"/>
              </a:spcBef>
              <a:spcAft>
                <a:spcPts val="1200"/>
              </a:spcAft>
              <a:buNone/>
            </a:pPr>
            <a:r>
              <a:t/>
            </a:r>
            <a:endParaRPr sz="1300"/>
          </a:p>
        </p:txBody>
      </p:sp>
    </p:spTree>
  </p:cSld>
  <p:clrMapOvr>
    <a:masterClrMapping/>
  </p:clrMapOvr>
</p:sld>
</file>

<file path=ppt/theme/theme1.xml><?xml version="1.0" encoding="utf-8"?>
<a:theme xmlns:a="http://schemas.openxmlformats.org/drawingml/2006/main" xmlns:r="http://schemas.openxmlformats.org/officeDocument/2006/relationships"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